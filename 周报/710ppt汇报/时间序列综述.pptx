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96" r:id="rId6"/>
    <p:sldId id="281" r:id="rId7"/>
    <p:sldId id="261" r:id="rId8"/>
    <p:sldId id="304" r:id="rId9"/>
    <p:sldId id="306" r:id="rId10"/>
    <p:sldId id="284" r:id="rId11"/>
    <p:sldId id="292" r:id="rId12"/>
    <p:sldId id="285" r:id="rId13"/>
    <p:sldId id="293" r:id="rId14"/>
    <p:sldId id="268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00" autoAdjust="0"/>
  </p:normalViewPr>
  <p:slideViewPr>
    <p:cSldViewPr snapToGrid="0">
      <p:cViewPr>
        <p:scale>
          <a:sx n="50" d="100"/>
          <a:sy n="50" d="100"/>
        </p:scale>
        <p:origin x="540" y="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78FDA-50DF-44B5-9FBA-F96BB1FB82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D29A7-0808-4104-8F67-C229520D7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15.png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tags" Target="../tags/tag1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4" y="39345"/>
            <a:ext cx="3455246" cy="345524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647700" y="3559175"/>
            <a:ext cx="10890885" cy="1417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时间序列图神经网络综述：</a:t>
            </a:r>
            <a:endParaRPr lang="zh-CN" altLang="en-US" sz="3200" b="1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GNN4TS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在预测、分类、插补和异常检测的</a:t>
            </a:r>
            <a:r>
              <a:rPr lang="zh-CN" altLang="en-US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3200" b="1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3200" b="1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zh-CN" altLang="en-US" sz="3200" b="1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4182432" y="5460729"/>
            <a:ext cx="3816132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张云华</a:t>
            </a:r>
            <a:endParaRPr kumimoji="1" lang="zh-CN" altLang="en-US" sz="28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35" y="786130"/>
            <a:ext cx="1456690" cy="60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时间序列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340" y="1376680"/>
            <a:ext cx="6289675" cy="1464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用于记录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动态系统测量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的主要数据类型，由物理传感器和虚拟传感器大量生成。就是把‘时间’作为坐标轴，记录下某个指标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有序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的“数据日志”，可以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是定期或不定期采样。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24675" y="815340"/>
            <a:ext cx="5814695" cy="607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时间序列四大任务：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425" y="2746375"/>
            <a:ext cx="1950720" cy="60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时间序列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167640" y="3630295"/>
          <a:ext cx="181229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"/>
                <a:gridCol w="9817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季度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销售额</a:t>
                      </a:r>
                      <a:endParaRPr lang="zh-CN" altLang="en-US" sz="1200" b="1"/>
                    </a:p>
                  </a:txBody>
                  <a:tcPr/>
                </a:tc>
              </a:tr>
              <a:tr h="235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第一季度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1200</a:t>
                      </a:r>
                      <a:endParaRPr lang="en-US" altLang="zh-CN" sz="1200" b="1"/>
                    </a:p>
                  </a:txBody>
                  <a:tcPr/>
                </a:tc>
              </a:tr>
              <a:tr h="219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第二季度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1400</a:t>
                      </a:r>
                      <a:endParaRPr lang="en-US" altLang="zh-CN" sz="1200" b="1"/>
                    </a:p>
                  </a:txBody>
                  <a:tcPr/>
                </a:tc>
              </a:tr>
              <a:tr h="1860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第三季度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1300</a:t>
                      </a:r>
                      <a:endParaRPr lang="en-US" altLang="zh-CN" sz="1200" b="1"/>
                    </a:p>
                  </a:txBody>
                  <a:tcPr/>
                </a:tc>
              </a:tr>
              <a:tr h="219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第四季度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1500</a:t>
                      </a:r>
                      <a:endParaRPr lang="en-US" altLang="zh-CN" sz="1200"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2320925" y="3630295"/>
          <a:ext cx="339471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60"/>
                <a:gridCol w="719455"/>
                <a:gridCol w="779780"/>
                <a:gridCol w="1097915"/>
              </a:tblGrid>
              <a:tr h="322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季度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销售额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销售量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广告</a:t>
                      </a:r>
                      <a:r>
                        <a:rPr lang="zh-CN" altLang="en-US" sz="1200" b="1"/>
                        <a:t>费用</a:t>
                      </a:r>
                      <a:endParaRPr lang="zh-CN" altLang="en-US" sz="1200" b="1"/>
                    </a:p>
                  </a:txBody>
                  <a:tcPr/>
                </a:tc>
              </a:tr>
              <a:tr h="288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第一季度</a:t>
                      </a:r>
                      <a:endParaRPr lang="zh-CN" altLang="en-US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1200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100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300</a:t>
                      </a:r>
                      <a:endParaRPr lang="en-US" altLang="zh-CN" sz="1200" b="1"/>
                    </a:p>
                  </a:txBody>
                  <a:tcPr/>
                </a:tc>
              </a:tr>
              <a:tr h="288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第二季度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1400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130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290</a:t>
                      </a:r>
                      <a:endParaRPr lang="en-US" altLang="zh-CN" sz="1200" b="1"/>
                    </a:p>
                  </a:txBody>
                  <a:tcPr/>
                </a:tc>
              </a:tr>
              <a:tr h="288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第三季度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1300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120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330</a:t>
                      </a:r>
                      <a:endParaRPr lang="en-US" altLang="zh-CN" sz="1200" b="1"/>
                    </a:p>
                  </a:txBody>
                  <a:tcPr/>
                </a:tc>
              </a:tr>
              <a:tr h="288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>
                          <a:sym typeface="+mn-ea"/>
                        </a:rPr>
                        <a:t>第四季度</a:t>
                      </a:r>
                      <a:endParaRPr lang="zh-CN" altLang="en-US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1500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140</a:t>
                      </a:r>
                      <a:endParaRPr lang="en-US" altLang="zh-CN" sz="12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/>
                        <a:t>240</a:t>
                      </a:r>
                      <a:endParaRPr lang="en-US" altLang="zh-CN" sz="1200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04190" y="3354705"/>
            <a:ext cx="10687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单变量数据</a:t>
            </a:r>
            <a:endParaRPr lang="zh-CN" altLang="en-US" sz="1200" b="1"/>
          </a:p>
        </p:txBody>
      </p:sp>
      <p:sp>
        <p:nvSpPr>
          <p:cNvPr id="19" name="文本框 18"/>
          <p:cNvSpPr txBox="1"/>
          <p:nvPr/>
        </p:nvSpPr>
        <p:spPr>
          <a:xfrm>
            <a:off x="3483610" y="3354705"/>
            <a:ext cx="984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多变量数据</a:t>
            </a:r>
            <a:r>
              <a:rPr lang="en-US" altLang="zh-CN" sz="1200" b="1"/>
              <a:t>      </a:t>
            </a:r>
            <a:endParaRPr lang="en-US" altLang="zh-CN" sz="1200" b="1"/>
          </a:p>
        </p:txBody>
      </p:sp>
      <p:sp>
        <p:nvSpPr>
          <p:cNvPr id="26" name="文本框 25"/>
          <p:cNvSpPr txBox="1"/>
          <p:nvPr/>
        </p:nvSpPr>
        <p:spPr>
          <a:xfrm>
            <a:off x="154940" y="5517515"/>
            <a:ext cx="5509260" cy="779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600" b="1"/>
              <a:t>两者之间的区别：多变量时间序列并非以时间相关的单一因子来决定标签变化，而是结合其余因素共同作用影响。</a:t>
            </a:r>
            <a:endParaRPr lang="zh-CN" altLang="en-US" sz="1600" b="1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1725" y="1423035"/>
            <a:ext cx="3435985" cy="240411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7472045" y="1423035"/>
            <a:ext cx="674370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预测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7474585" y="3319145"/>
            <a:ext cx="671830" cy="3467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分类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7213600" y="2652395"/>
            <a:ext cx="1193165" cy="3517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异常检测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7213600" y="1985645"/>
            <a:ext cx="1152525" cy="3524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</a:rPr>
              <a:t>插帧填补</a:t>
            </a:r>
            <a:endParaRPr lang="zh-CN" altLang="en-US" b="1" dirty="0">
              <a:solidFill>
                <a:srgbClr val="FFC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980430" y="3957320"/>
            <a:ext cx="6177280" cy="2251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传统方法瓶颈：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独立性假设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：传统方法默认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变量独立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，无法显式利用空间传导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非欧几里得空间数据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CNN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处理网格，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RNN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处理序列。但时间序列中变量之间的关系网是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任意形状的图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动态传导失效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：系统发生突变时，传统模型无法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动态调整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变量间的影响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权重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54940" y="5139055"/>
                <a:ext cx="1934210" cy="2743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}∈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2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40" y="5139055"/>
                <a:ext cx="1934210" cy="27432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438461" y="5138991"/>
                <a:ext cx="1074420" cy="3327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461" y="5138991"/>
                <a:ext cx="1074420" cy="332740"/>
              </a:xfrm>
              <a:prstGeom prst="rect">
                <a:avLst/>
              </a:prstGeom>
              <a:blipFill rotWithShape="1">
                <a:blip r:embed="rId12"/>
                <a:stretch>
                  <a:fillRect l="-53" t="-172" r="53" b="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835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图神经网络</a:t>
            </a:r>
            <a:r>
              <a:rPr kumimoji="1" lang="en-US" altLang="zh-CN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GNN</a:t>
            </a:r>
            <a:endParaRPr kumimoji="1" lang="en-US" altLang="zh-CN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813" y="176064"/>
            <a:ext cx="1599391" cy="35169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87325" y="3932555"/>
            <a:ext cx="6512560" cy="807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GNN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定义：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一类专门用于处理图数据的神经网络模型。它们通过迭代地传递和聚合节点及其邻居的特征信息，从而学习节点和图的表示。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8594725" y="4557395"/>
            <a:ext cx="3155315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1600" b="1">
                <a:solidFill>
                  <a:schemeClr val="bg1"/>
                </a:solidFill>
              </a:rPr>
              <a:t>提取的特征不仅能用于三维重建，还能显著提升下游任务如动态点跟踪和新视角合成的性能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pic>
        <p:nvPicPr>
          <p:cNvPr id="25" name="图片 24"/>
          <p:cNvPicPr/>
          <p:nvPr/>
        </p:nvPicPr>
        <p:blipFill>
          <a:blip r:embed="rId5"/>
          <a:stretch>
            <a:fillRect/>
          </a:stretch>
        </p:blipFill>
        <p:spPr>
          <a:xfrm>
            <a:off x="6477000" y="1297940"/>
            <a:ext cx="4697095" cy="186499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-7620" y="1166495"/>
            <a:ext cx="6289675" cy="1111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图数据是种复杂的数据结构，由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组成，用于表示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对象及其相互关系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。节点代表数据中的实体，边则表示实体之间的关系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/>
          <p:nvPr/>
        </p:nvPicPr>
        <p:blipFill>
          <a:blip r:embed="rId6"/>
          <a:stretch>
            <a:fillRect/>
          </a:stretch>
        </p:blipFill>
        <p:spPr>
          <a:xfrm>
            <a:off x="2647950" y="2152015"/>
            <a:ext cx="3481070" cy="1565910"/>
          </a:xfrm>
          <a:prstGeom prst="rect">
            <a:avLst/>
          </a:prstGeom>
        </p:spPr>
      </p:pic>
      <p:pic>
        <p:nvPicPr>
          <p:cNvPr id="29" name="图片 28"/>
          <p:cNvPicPr/>
          <p:nvPr/>
        </p:nvPicPr>
        <p:blipFill>
          <a:blip r:embed="rId7"/>
          <a:stretch>
            <a:fillRect/>
          </a:stretch>
        </p:blipFill>
        <p:spPr>
          <a:xfrm>
            <a:off x="-7620" y="2232660"/>
            <a:ext cx="2800350" cy="148526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77900" y="3752215"/>
            <a:ext cx="845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交通网络</a:t>
            </a:r>
            <a:endParaRPr lang="zh-CN" altLang="en-US" sz="1200" b="1"/>
          </a:p>
        </p:txBody>
      </p:sp>
      <p:sp>
        <p:nvSpPr>
          <p:cNvPr id="31" name="文本框 30"/>
          <p:cNvSpPr txBox="1"/>
          <p:nvPr/>
        </p:nvSpPr>
        <p:spPr>
          <a:xfrm>
            <a:off x="3885565" y="3717925"/>
            <a:ext cx="845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知识图谱</a:t>
            </a:r>
            <a:endParaRPr lang="zh-CN" altLang="en-US" sz="1200" b="1"/>
          </a:p>
        </p:txBody>
      </p:sp>
      <p:sp>
        <p:nvSpPr>
          <p:cNvPr id="32" name="文本框 31"/>
          <p:cNvSpPr txBox="1"/>
          <p:nvPr/>
        </p:nvSpPr>
        <p:spPr>
          <a:xfrm>
            <a:off x="635" y="786130"/>
            <a:ext cx="6512560" cy="60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</a:rPr>
              <a:t>图数据</a:t>
            </a:r>
            <a:endParaRPr lang="zh-CN" alt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160" y="4687570"/>
            <a:ext cx="3806825" cy="15189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27825" y="3389630"/>
            <a:ext cx="5394325" cy="2855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20000"/>
              </a:lnSpc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节点不是孤立的，其状态/标签/特征可通过边向邻居"传播"或"对比"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预测/填补：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利用邻居的特征相似性（空间相关性）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分类：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利用邻居的标签一致性（同质性假设）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异常检测：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2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利用邻居的关系稳定性（结构一致性）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图结构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生成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2695" y="4138295"/>
            <a:ext cx="373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核心：依赖</a:t>
            </a:r>
            <a:r>
              <a:rPr lang="zh-CN" altLang="en-US" b="1">
                <a:solidFill>
                  <a:srgbClr val="FF0000"/>
                </a:solidFill>
              </a:rPr>
              <a:t>人工经验</a:t>
            </a:r>
            <a:r>
              <a:rPr lang="zh-CN" altLang="en-US" b="1">
                <a:solidFill>
                  <a:schemeClr val="tx1"/>
                </a:solidFill>
              </a:rPr>
              <a:t>还是</a:t>
            </a:r>
            <a:r>
              <a:rPr lang="zh-CN" altLang="en-US" b="1">
                <a:solidFill>
                  <a:srgbClr val="FF0000"/>
                </a:solidFill>
              </a:rPr>
              <a:t>数据驱动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" y="775335"/>
            <a:ext cx="6374765" cy="29698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14135" y="1072515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空间邻近度</a:t>
            </a:r>
            <a:endParaRPr lang="zh-CN" altLang="en-US"/>
          </a:p>
        </p:txBody>
      </p:sp>
      <p:sp>
        <p:nvSpPr>
          <p:cNvPr id="32" name="Rounded Rectangle 12"/>
          <p:cNvSpPr/>
          <p:nvPr/>
        </p:nvSpPr>
        <p:spPr>
          <a:xfrm>
            <a:off x="6517640" y="1510030"/>
            <a:ext cx="53422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考虑节点对之间的邻近度 (例如基于地理位置)来定义图结构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17640" y="2720340"/>
            <a:ext cx="53422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连接具有相似属性的节点来构造图。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74460" y="3930650"/>
            <a:ext cx="53422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基于节点对之间已知的函数依赖关系定义图结构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17640" y="2159635"/>
            <a:ext cx="29610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成对相似性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558915" y="3422650"/>
            <a:ext cx="313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函数</a:t>
            </a:r>
            <a:r>
              <a:rPr lang="zh-CN" altLang="en-US"/>
              <a:t>依赖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面向任务分类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法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540" y="790575"/>
            <a:ext cx="2334260" cy="196151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758190"/>
            <a:ext cx="2339340" cy="199326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540" y="3381375"/>
            <a:ext cx="2334260" cy="181546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3381375"/>
            <a:ext cx="2339340" cy="1784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58190"/>
            <a:ext cx="4423410" cy="42189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4869180"/>
            <a:ext cx="4491990" cy="1368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所有架构都由类似的基于图的处理模块 </a:t>
            </a:r>
            <a:r>
              <a:rPr lang="en-US" altLang="zh-CN"/>
              <a:t>fθ </a:t>
            </a:r>
            <a:r>
              <a:rPr lang="zh-CN" altLang="en-US"/>
              <a:t>和专门处理下游任务的第二个模块 </a:t>
            </a:r>
            <a:r>
              <a:rPr lang="en-US" altLang="zh-CN"/>
              <a:t>pφ </a:t>
            </a:r>
            <a:r>
              <a:rPr lang="zh-CN" altLang="en-US"/>
              <a:t>组成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7080" y="2750185"/>
            <a:ext cx="3255645" cy="4400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795" y="5364480"/>
            <a:ext cx="3256280" cy="5194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8655" y="5364480"/>
            <a:ext cx="3143885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5469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STGNN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分类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法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40" y="815340"/>
            <a:ext cx="5127625" cy="47580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215" y="1679575"/>
            <a:ext cx="5730240" cy="3135630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4934585" y="5139690"/>
            <a:ext cx="5680075" cy="502916"/>
            <a:chOff x="5454967" y="206611"/>
            <a:chExt cx="6039769" cy="502959"/>
          </a:xfrm>
        </p:grpSpPr>
        <p:sp>
          <p:nvSpPr>
            <p:cNvPr id="46" name="矩形: 圆角 9"/>
            <p:cNvSpPr/>
            <p:nvPr/>
          </p:nvSpPr>
          <p:spPr>
            <a:xfrm>
              <a:off x="5500687" y="206611"/>
              <a:ext cx="1394182" cy="43374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2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Bold" panose="020B0800000000000000" charset="-122"/>
                <a:cs typeface="思源黑体 CN Normal" panose="020B0400000000000000" pitchFamily="34" charset="-122"/>
                <a:sym typeface="+mn-ea"/>
              </a:endParaRPr>
            </a:p>
          </p:txBody>
        </p:sp>
        <p:sp>
          <p:nvSpPr>
            <p:cNvPr id="47" name="1"/>
            <p:cNvSpPr txBox="1"/>
            <p:nvPr/>
          </p:nvSpPr>
          <p:spPr>
            <a:xfrm>
              <a:off x="5454967" y="249156"/>
              <a:ext cx="1393190" cy="460414"/>
            </a:xfrm>
            <a:prstGeom prst="rect">
              <a:avLst/>
            </a:prstGeom>
            <a:noFill/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13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Normal" panose="020B0400000000000000" pitchFamily="34" charset="-122"/>
                </a:rPr>
                <a:t>时间序列数据集</a:t>
              </a:r>
              <a:endParaRPr kumimoji="0" lang="zh-CN" altLang="en-US" sz="1200" b="0" i="0" u="none" strike="noStrike" kern="1200" cap="none" spc="1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48" name="矩形: 圆角 11"/>
            <p:cNvSpPr/>
            <p:nvPr/>
          </p:nvSpPr>
          <p:spPr>
            <a:xfrm>
              <a:off x="6948694" y="206611"/>
              <a:ext cx="1394182" cy="43374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2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Bold" panose="020B0800000000000000" charset="-122"/>
                <a:cs typeface="思源黑体 CN Normal" panose="020B0400000000000000" pitchFamily="34" charset="-122"/>
                <a:sym typeface="+mn-ea"/>
              </a:endParaRPr>
            </a:p>
          </p:txBody>
        </p:sp>
        <p:sp>
          <p:nvSpPr>
            <p:cNvPr id="49" name="1"/>
            <p:cNvSpPr txBox="1"/>
            <p:nvPr/>
          </p:nvSpPr>
          <p:spPr>
            <a:xfrm>
              <a:off x="7072312" y="249156"/>
              <a:ext cx="1250950" cy="460414"/>
            </a:xfrm>
            <a:prstGeom prst="rect">
              <a:avLst/>
            </a:prstGeom>
            <a:noFill/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13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Normal" panose="020B0400000000000000" pitchFamily="34" charset="-122"/>
                </a:rPr>
                <a:t>数据处理模块</a:t>
              </a:r>
              <a:endParaRPr kumimoji="0" lang="zh-CN" altLang="en-US" sz="1200" b="0" i="0" u="none" strike="noStrike" kern="1200" cap="none" spc="1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50" name="矩形: 圆角 13"/>
            <p:cNvSpPr/>
            <p:nvPr/>
          </p:nvSpPr>
          <p:spPr>
            <a:xfrm>
              <a:off x="8396701" y="206611"/>
              <a:ext cx="1522106" cy="43374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12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Bold" panose="020B0800000000000000" charset="-122"/>
                <a:cs typeface="思源黑体 CN Normal" panose="020B0400000000000000" pitchFamily="34" charset="-122"/>
                <a:sym typeface="+mn-ea"/>
              </a:endParaRPr>
            </a:p>
          </p:txBody>
        </p:sp>
        <p:sp>
          <p:nvSpPr>
            <p:cNvPr id="51" name="1"/>
            <p:cNvSpPr txBox="1"/>
            <p:nvPr/>
          </p:nvSpPr>
          <p:spPr>
            <a:xfrm>
              <a:off x="8501141" y="247481"/>
              <a:ext cx="1313229" cy="337214"/>
            </a:xfrm>
            <a:prstGeom prst="rect">
              <a:avLst/>
            </a:prstGeom>
            <a:noFill/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13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Normal" panose="020B0400000000000000" pitchFamily="34" charset="-122"/>
                </a:rPr>
                <a:t>STGNN</a:t>
              </a:r>
              <a:endParaRPr kumimoji="0" lang="en-US" altLang="zh-CN" sz="1600" b="0" i="0" u="none" strike="noStrike" kern="1200" cap="none" spc="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52" name="矩形: 圆角 15"/>
            <p:cNvSpPr/>
            <p:nvPr/>
          </p:nvSpPr>
          <p:spPr>
            <a:xfrm>
              <a:off x="9972630" y="206611"/>
              <a:ext cx="1522106" cy="43374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Bold" panose="020B0800000000000000" charset="-122"/>
                <a:cs typeface="思源黑体 CN Normal" panose="020B0400000000000000" pitchFamily="34" charset="-122"/>
              </a:endParaRPr>
            </a:p>
          </p:txBody>
        </p:sp>
        <p:sp>
          <p:nvSpPr>
            <p:cNvPr id="53" name="1"/>
            <p:cNvSpPr txBox="1"/>
            <p:nvPr/>
          </p:nvSpPr>
          <p:spPr>
            <a:xfrm>
              <a:off x="10077069" y="249386"/>
              <a:ext cx="1313229" cy="275614"/>
            </a:xfrm>
            <a:prstGeom prst="rect">
              <a:avLst/>
            </a:prstGeom>
            <a:noFill/>
          </p:spPr>
          <p:txBody>
            <a:bodyPr wrap="square" anchor="t" anchorCtr="0">
              <a:sp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2400" spc="130">
                  <a:solidFill>
                    <a:schemeClr val="tx2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13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Normal" panose="020B0400000000000000" pitchFamily="34" charset="-122"/>
                </a:rPr>
                <a:t>下游任务处理</a:t>
              </a:r>
              <a:endParaRPr kumimoji="0" lang="zh-CN" altLang="en-US" sz="1200" b="0" i="0" u="none" strike="noStrike" kern="1200" cap="none" spc="1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Normal" panose="020B0400000000000000" pitchFamily="34" charset="-122"/>
              </a:endParaRPr>
            </a:p>
          </p:txBody>
        </p:sp>
      </p:grpSp>
      <p:sp>
        <p:nvSpPr>
          <p:cNvPr id="57" name="矩形: 圆角 15"/>
          <p:cNvSpPr/>
          <p:nvPr/>
        </p:nvSpPr>
        <p:spPr>
          <a:xfrm>
            <a:off x="10705297" y="5139690"/>
            <a:ext cx="1431458" cy="4337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Bold" panose="020B0800000000000000" charset="-122"/>
                <a:cs typeface="思源黑体 CN Normal" panose="020B0400000000000000" pitchFamily="34" charset="-122"/>
              </a:rPr>
              <a:t>结果分析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Bold" panose="020B0800000000000000" charset="-122"/>
              <a:cs typeface="思源黑体 CN Normal" panose="020B04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44704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 GNN 的时间序列预测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84580" y="1256030"/>
            <a:ext cx="182753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7"/>
          <p:cNvSpPr txBox="1"/>
          <p:nvPr/>
        </p:nvSpPr>
        <p:spPr>
          <a:xfrm>
            <a:off x="1084580" y="1301750"/>
            <a:ext cx="182753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① 空间依赖性建模</a:t>
            </a:r>
          </a:p>
        </p:txBody>
      </p:sp>
      <p:sp>
        <p:nvSpPr>
          <p:cNvPr id="10" name="TextBox 17"/>
          <p:cNvSpPr txBox="1"/>
          <p:nvPr/>
        </p:nvSpPr>
        <p:spPr>
          <a:xfrm>
            <a:off x="4890135" y="1258570"/>
            <a:ext cx="203073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时间依赖性建模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7410" y="1212850"/>
            <a:ext cx="224409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7"/>
          <p:cNvSpPr txBox="1"/>
          <p:nvPr/>
        </p:nvSpPr>
        <p:spPr>
          <a:xfrm>
            <a:off x="4705350" y="1258570"/>
            <a:ext cx="227266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时间依赖性建模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3100" y="1508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③ 时空模块融合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212850"/>
            <a:ext cx="218694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7"/>
          <p:cNvSpPr txBox="1"/>
          <p:nvPr/>
        </p:nvSpPr>
        <p:spPr>
          <a:xfrm>
            <a:off x="8686800" y="1258570"/>
            <a:ext cx="218694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③ 时空模块融合</a:t>
            </a:r>
          </a:p>
        </p:txBody>
      </p:sp>
      <p:sp>
        <p:nvSpPr>
          <p:cNvPr id="26" name="Rounded Rectangle 8"/>
          <p:cNvSpPr/>
          <p:nvPr/>
        </p:nvSpPr>
        <p:spPr>
          <a:xfrm>
            <a:off x="257175" y="2257425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9"/>
          <p:cNvSpPr txBox="1"/>
          <p:nvPr/>
        </p:nvSpPr>
        <p:spPr>
          <a:xfrm>
            <a:off x="647065" y="2303145"/>
            <a:ext cx="25120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谱方法  →  基于频域的图卷积</a:t>
            </a:r>
            <a:endParaRPr sz="1400"/>
          </a:p>
        </p:txBody>
      </p:sp>
      <p:sp>
        <p:nvSpPr>
          <p:cNvPr id="30" name="Rounded Rectangle 10"/>
          <p:cNvSpPr/>
          <p:nvPr/>
        </p:nvSpPr>
        <p:spPr>
          <a:xfrm>
            <a:off x="257175" y="2806065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11"/>
          <p:cNvSpPr txBox="1"/>
          <p:nvPr/>
        </p:nvSpPr>
        <p:spPr>
          <a:xfrm>
            <a:off x="564515" y="2851785"/>
            <a:ext cx="26771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空间方法  →  消息传递 / 图扩散</a:t>
            </a:r>
            <a:endParaRPr sz="1400"/>
          </a:p>
        </p:txBody>
      </p:sp>
      <p:sp>
        <p:nvSpPr>
          <p:cNvPr id="32" name="Rounded Rectangle 12"/>
          <p:cNvSpPr/>
          <p:nvPr/>
        </p:nvSpPr>
        <p:spPr>
          <a:xfrm>
            <a:off x="257175" y="3354705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13"/>
          <p:cNvSpPr txBox="1"/>
          <p:nvPr/>
        </p:nvSpPr>
        <p:spPr>
          <a:xfrm>
            <a:off x="538798" y="3400425"/>
            <a:ext cx="27285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混合方法  →  谱 + 空间联合建模</a:t>
            </a:r>
            <a:endParaRPr sz="1400"/>
          </a:p>
        </p:txBody>
      </p:sp>
      <p:sp>
        <p:nvSpPr>
          <p:cNvPr id="34" name="Rounded Rectangle 18"/>
          <p:cNvSpPr/>
          <p:nvPr/>
        </p:nvSpPr>
        <p:spPr>
          <a:xfrm>
            <a:off x="4150995" y="224028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19"/>
          <p:cNvSpPr txBox="1"/>
          <p:nvPr/>
        </p:nvSpPr>
        <p:spPr>
          <a:xfrm>
            <a:off x="4437063" y="2286000"/>
            <a:ext cx="271970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循环模型  →  RNN / GRU / LSTM</a:t>
            </a:r>
            <a:endParaRPr sz="1400"/>
          </a:p>
        </p:txBody>
      </p:sp>
      <p:sp>
        <p:nvSpPr>
          <p:cNvPr id="36" name="Rounded Rectangle 20"/>
          <p:cNvSpPr/>
          <p:nvPr/>
        </p:nvSpPr>
        <p:spPr>
          <a:xfrm>
            <a:off x="4150995" y="278892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21"/>
          <p:cNvSpPr txBox="1"/>
          <p:nvPr/>
        </p:nvSpPr>
        <p:spPr>
          <a:xfrm>
            <a:off x="4547235" y="2834640"/>
            <a:ext cx="24993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卷积模型  →  时域 / 频域卷积</a:t>
            </a:r>
            <a:endParaRPr sz="1400"/>
          </a:p>
        </p:txBody>
      </p:sp>
      <p:sp>
        <p:nvSpPr>
          <p:cNvPr id="38" name="Rounded Rectangle 22"/>
          <p:cNvSpPr/>
          <p:nvPr/>
        </p:nvSpPr>
        <p:spPr>
          <a:xfrm>
            <a:off x="4150995" y="333756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23"/>
          <p:cNvSpPr txBox="1"/>
          <p:nvPr/>
        </p:nvSpPr>
        <p:spPr>
          <a:xfrm>
            <a:off x="4172268" y="3383280"/>
            <a:ext cx="32492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注意力模型  →  Transformer / 自注意力</a:t>
            </a:r>
            <a:endParaRPr sz="1400"/>
          </a:p>
        </p:txBody>
      </p:sp>
      <p:sp>
        <p:nvSpPr>
          <p:cNvPr id="40" name="Rounded Rectangle 28"/>
          <p:cNvSpPr/>
          <p:nvPr/>
        </p:nvSpPr>
        <p:spPr>
          <a:xfrm>
            <a:off x="8044815" y="2235200"/>
            <a:ext cx="3291840" cy="45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E44A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29"/>
          <p:cNvSpPr txBox="1"/>
          <p:nvPr/>
        </p:nvSpPr>
        <p:spPr>
          <a:xfrm>
            <a:off x="8345805" y="2280920"/>
            <a:ext cx="26898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离散分解  →  时空模块独立处理</a:t>
            </a:r>
            <a:endParaRPr sz="1400"/>
          </a:p>
        </p:txBody>
      </p:sp>
      <p:sp>
        <p:nvSpPr>
          <p:cNvPr id="42" name="Rounded Rectangle 30"/>
          <p:cNvSpPr/>
          <p:nvPr/>
        </p:nvSpPr>
        <p:spPr>
          <a:xfrm>
            <a:off x="8044815" y="2783840"/>
            <a:ext cx="3291840" cy="45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E44A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31"/>
          <p:cNvSpPr txBox="1"/>
          <p:nvPr/>
        </p:nvSpPr>
        <p:spPr>
          <a:xfrm>
            <a:off x="8079105" y="2829560"/>
            <a:ext cx="32232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离散耦合  →  时空模块合并到单个过程</a:t>
            </a:r>
            <a:endParaRPr sz="1400"/>
          </a:p>
        </p:txBody>
      </p:sp>
      <p:sp>
        <p:nvSpPr>
          <p:cNvPr id="44" name="Rounded Rectangle 32"/>
          <p:cNvSpPr/>
          <p:nvPr/>
        </p:nvSpPr>
        <p:spPr>
          <a:xfrm>
            <a:off x="8044815" y="3332480"/>
            <a:ext cx="3291840" cy="45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8E44A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33"/>
          <p:cNvSpPr txBox="1"/>
          <p:nvPr/>
        </p:nvSpPr>
        <p:spPr>
          <a:xfrm>
            <a:off x="8168005" y="3378200"/>
            <a:ext cx="304546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rPr sz="1400"/>
              <a:t>连续架构  →  神经微分方程统一建模</a:t>
            </a:r>
            <a:endParaRPr sz="1400"/>
          </a:p>
        </p:txBody>
      </p:sp>
      <p:sp>
        <p:nvSpPr>
          <p:cNvPr id="46" name="Rounded Rectangle 22"/>
          <p:cNvSpPr/>
          <p:nvPr/>
        </p:nvSpPr>
        <p:spPr>
          <a:xfrm>
            <a:off x="4172585" y="393192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文本框 46"/>
          <p:cNvSpPr txBox="1"/>
          <p:nvPr/>
        </p:nvSpPr>
        <p:spPr>
          <a:xfrm>
            <a:off x="4274820" y="4009390"/>
            <a:ext cx="309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solidFill>
                  <a:srgbClr val="333333"/>
                </a:solidFill>
              </a:rPr>
              <a:t>       </a:t>
            </a:r>
            <a:r>
              <a:rPr sz="1400">
                <a:solidFill>
                  <a:srgbClr val="333333"/>
                </a:solidFill>
              </a:rPr>
              <a:t>混合模型</a:t>
            </a:r>
            <a:r>
              <a:rPr sz="1400">
                <a:solidFill>
                  <a:srgbClr val="333333"/>
                </a:solidFill>
                <a:sym typeface="+mn-ea"/>
              </a:rPr>
              <a:t>→几大模型组合</a:t>
            </a:r>
            <a:endParaRPr sz="1400">
              <a:solidFill>
                <a:srgbClr val="333333"/>
              </a:solidFill>
              <a:sym typeface="+mn-ea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005" y="3851910"/>
            <a:ext cx="2753360" cy="23641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99990" y="5046345"/>
            <a:ext cx="1249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单步提前预测</a:t>
            </a:r>
            <a:endParaRPr lang="zh-CN" altLang="en-US" sz="12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5" y="5079365"/>
            <a:ext cx="902970" cy="2425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99990" y="5407025"/>
            <a:ext cx="12490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多步提前预测</a:t>
            </a:r>
            <a:endParaRPr lang="zh-CN" altLang="en-US" sz="12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35" y="5407025"/>
            <a:ext cx="1140460" cy="27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196215" y="143129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异常检测模型遵循统一的骨干-评分器架构，根据训练方式和评分策略分为三类差异框架</a:t>
            </a:r>
          </a:p>
        </p:txBody>
      </p:sp>
      <p:sp>
        <p:nvSpPr>
          <p:cNvPr id="7" name="Rectangle 4"/>
          <p:cNvSpPr/>
          <p:nvPr>
            <p:custDataLst>
              <p:tags r:id="rId4"/>
            </p:custDataLst>
          </p:nvPr>
        </p:nvSpPr>
        <p:spPr>
          <a:xfrm>
            <a:off x="317500" y="2682875"/>
            <a:ext cx="2758440" cy="1244600"/>
          </a:xfrm>
          <a:prstGeom prst="rect">
            <a:avLst/>
          </a:prstGeom>
          <a:solidFill>
            <a:srgbClr val="FFF8F8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5"/>
          <p:cNvSpPr txBox="1"/>
          <p:nvPr>
            <p:custDataLst>
              <p:tags r:id="rId5"/>
            </p:custDataLst>
          </p:nvPr>
        </p:nvSpPr>
        <p:spPr>
          <a:xfrm>
            <a:off x="317500" y="2213610"/>
            <a:ext cx="3200400" cy="2654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500" b="1">
                <a:solidFill>
                  <a:srgbClr val="DC3545"/>
                </a:solidFill>
              </a:defRPr>
            </a:pPr>
            <a:r>
              <a:t>重建差异</a:t>
            </a:r>
          </a:p>
        </p:txBody>
      </p:sp>
      <p:sp>
        <p:nvSpPr>
          <p:cNvPr id="9" name="TextBox 6"/>
          <p:cNvSpPr txBox="1"/>
          <p:nvPr>
            <p:custDataLst>
              <p:tags r:id="rId6"/>
            </p:custDataLst>
          </p:nvPr>
        </p:nvSpPr>
        <p:spPr>
          <a:xfrm>
            <a:off x="363220" y="2669540"/>
            <a:ext cx="2713355" cy="1257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将输入投影到潜在空间</a:t>
            </a:r>
            <a:endParaRPr sz="1400"/>
          </a:p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尝试重建当前输入</a:t>
            </a:r>
            <a:endParaRPr sz="1400"/>
          </a:p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重建失败则识别为异常</a:t>
            </a: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</a:p>
        </p:txBody>
      </p:sp>
      <p:sp>
        <p:nvSpPr>
          <p:cNvPr id="14" name="Rectangle 7"/>
          <p:cNvSpPr/>
          <p:nvPr>
            <p:custDataLst>
              <p:tags r:id="rId7"/>
            </p:custDataLst>
          </p:nvPr>
        </p:nvSpPr>
        <p:spPr>
          <a:xfrm>
            <a:off x="317500" y="4608195"/>
            <a:ext cx="2922905" cy="1386205"/>
          </a:xfrm>
          <a:prstGeom prst="rect">
            <a:avLst/>
          </a:prstGeom>
          <a:solidFill>
            <a:srgbClr val="F8FFF8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8"/>
          <p:cNvSpPr txBox="1"/>
          <p:nvPr>
            <p:custDataLst>
              <p:tags r:id="rId8"/>
            </p:custDataLst>
          </p:nvPr>
        </p:nvSpPr>
        <p:spPr>
          <a:xfrm>
            <a:off x="196215" y="4301490"/>
            <a:ext cx="3200400" cy="2654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500" b="1">
                <a:solidFill>
                  <a:srgbClr val="28A745"/>
                </a:solidFill>
              </a:defRPr>
            </a:pPr>
            <a:r>
              <a:t>预测差异</a:t>
            </a:r>
          </a:p>
        </p:txBody>
      </p:sp>
      <p:sp>
        <p:nvSpPr>
          <p:cNvPr id="43" name="TextBox 9"/>
          <p:cNvSpPr txBox="1"/>
          <p:nvPr>
            <p:custDataLst>
              <p:tags r:id="rId9"/>
            </p:custDataLst>
          </p:nvPr>
        </p:nvSpPr>
        <p:spPr>
          <a:xfrm>
            <a:off x="363220" y="4707890"/>
            <a:ext cx="2548255" cy="11423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6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用历史数据预测当前值</a:t>
            </a:r>
            <a:endParaRPr sz="1400"/>
          </a:p>
          <a:p>
            <a:pPr>
              <a:lnSpc>
                <a:spcPct val="16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对比预测与实际观测</a:t>
            </a:r>
            <a:endParaRPr sz="1400"/>
          </a:p>
          <a:p>
            <a:pPr>
              <a:lnSpc>
                <a:spcPct val="16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显著偏差则识别为异常</a:t>
            </a: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  <a:endParaRPr sz="1400"/>
          </a:p>
        </p:txBody>
      </p:sp>
      <p:sp>
        <p:nvSpPr>
          <p:cNvPr id="44" name="Rectangle 10"/>
          <p:cNvSpPr/>
          <p:nvPr>
            <p:custDataLst>
              <p:tags r:id="rId10"/>
            </p:custDataLst>
          </p:nvPr>
        </p:nvSpPr>
        <p:spPr>
          <a:xfrm>
            <a:off x="3670300" y="2682875"/>
            <a:ext cx="2654300" cy="1244600"/>
          </a:xfrm>
          <a:prstGeom prst="rect">
            <a:avLst/>
          </a:prstGeom>
          <a:solidFill>
            <a:srgbClr val="FCF8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11"/>
          <p:cNvSpPr txBox="1"/>
          <p:nvPr>
            <p:custDataLst>
              <p:tags r:id="rId11"/>
            </p:custDataLst>
          </p:nvPr>
        </p:nvSpPr>
        <p:spPr>
          <a:xfrm>
            <a:off x="3517900" y="2213610"/>
            <a:ext cx="3200400" cy="2654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500" b="1">
                <a:solidFill>
                  <a:srgbClr val="8E44AD"/>
                </a:solidFill>
              </a:defRPr>
            </a:pPr>
            <a:r>
              <a:t>关系差异</a:t>
            </a:r>
          </a:p>
        </p:txBody>
      </p:sp>
      <p:sp>
        <p:nvSpPr>
          <p:cNvPr id="46" name="TextBox 12"/>
          <p:cNvSpPr txBox="1"/>
          <p:nvPr>
            <p:custDataLst>
              <p:tags r:id="rId12"/>
            </p:custDataLst>
          </p:nvPr>
        </p:nvSpPr>
        <p:spPr>
          <a:xfrm>
            <a:off x="3670300" y="2682875"/>
            <a:ext cx="2850515" cy="1108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学习变量间隐藏的演化关系</a:t>
            </a:r>
            <a:endParaRPr sz="1400"/>
          </a:p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构建动态图结构</a:t>
            </a:r>
            <a:endParaRPr sz="1400"/>
          </a:p>
          <a:p>
            <a:pPr>
              <a:lnSpc>
                <a:spcPct val="170000"/>
              </a:lnSpc>
              <a:defRPr sz="1000">
                <a:solidFill>
                  <a:srgbClr val="333333"/>
                </a:solidFill>
              </a:defRPr>
            </a:pPr>
            <a:r>
              <a:rPr sz="1400"/>
              <a:t>• 评估关系变化分配异常分数</a:t>
            </a: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  <a:endParaRPr sz="1400"/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</a:p>
        </p:txBody>
      </p:sp>
      <p:sp>
        <p:nvSpPr>
          <p:cNvPr id="2" name="文本框 1"/>
          <p:cNvSpPr txBox="1"/>
          <p:nvPr/>
        </p:nvSpPr>
        <p:spPr>
          <a:xfrm>
            <a:off x="256540" y="69850"/>
            <a:ext cx="731139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 GNN 的时间序列异常</a:t>
            </a: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485" y="890270"/>
            <a:ext cx="9160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循环模型通常缺乏变量之间成对相互依赖性的显式建模,限制了它们检测复杂异常的有效性。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6470" y="2256790"/>
            <a:ext cx="2944495" cy="2792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447040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 GNN 的时间序列分类</a:t>
            </a:r>
            <a:endParaRPr sz="2800">
              <a:sym typeface="+mn-ea"/>
            </a:endParaRPr>
          </a:p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36195" y="844550"/>
            <a:ext cx="5115560" cy="10782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1600" b="1">
                <a:solidFill>
                  <a:srgbClr val="1A5276"/>
                </a:solidFill>
              </a:defRPr>
            </a:pPr>
            <a:r>
              <a:t>单变量时间序列分类</a:t>
            </a:r>
          </a:p>
          <a:p>
            <a:pPr algn="l">
              <a:defRPr sz="1600" b="1">
                <a:solidFill>
                  <a:srgbClr val="1A5276"/>
                </a:solidFill>
              </a:defRPr>
            </a:pPr>
          </a:p>
          <a:p>
            <a:pPr algn="l">
              <a:defRPr sz="1600" b="1">
                <a:solidFill>
                  <a:srgbClr val="1A5276"/>
                </a:solidFill>
              </a:defRPr>
            </a:pPr>
            <a:r>
              <a:rPr lang="zh-CN" altLang="en-US" sz="1400" b="0">
                <a:solidFill>
                  <a:schemeClr val="tx1"/>
                </a:solidFill>
              </a:rPr>
              <a:t>根据给定时间序列的基本模式或特征为其分配类别标签</a:t>
            </a:r>
            <a:endParaRPr lang="zh-CN" altLang="en-US" sz="1400" b="0">
              <a:solidFill>
                <a:schemeClr val="tx1"/>
              </a:solidFill>
            </a:endParaRPr>
          </a:p>
        </p:txBody>
      </p:sp>
      <p:sp>
        <p:nvSpPr>
          <p:cNvPr id="20" name="TextBox 12"/>
          <p:cNvSpPr txBox="1"/>
          <p:nvPr/>
        </p:nvSpPr>
        <p:spPr>
          <a:xfrm>
            <a:off x="154940" y="4323080"/>
            <a:ext cx="220535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多变量时间序列分类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105" y="1558925"/>
            <a:ext cx="3574415" cy="2764155"/>
          </a:xfrm>
          <a:prstGeom prst="rect">
            <a:avLst/>
          </a:prstGeom>
        </p:spPr>
      </p:pic>
      <p:sp>
        <p:nvSpPr>
          <p:cNvPr id="23" name="TextBox 14"/>
          <p:cNvSpPr txBox="1"/>
          <p:nvPr/>
        </p:nvSpPr>
        <p:spPr>
          <a:xfrm>
            <a:off x="154940" y="4660265"/>
            <a:ext cx="5679440" cy="111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230000"/>
              </a:lnSpc>
              <a:defRPr sz="1100">
                <a:solidFill>
                  <a:srgbClr val="333333"/>
                </a:solidFill>
              </a:defRPr>
            </a:pPr>
            <a:r>
              <a:rPr sz="1400"/>
              <a:t>与单变量分类保持基本相似性，但需额外捕获复杂的变量间依赖关系。</a:t>
            </a:r>
            <a:endParaRPr sz="1400"/>
          </a:p>
          <a:p>
            <a:pPr>
              <a:lnSpc>
                <a:spcPct val="230000"/>
              </a:lnSpc>
              <a:defRPr sz="1100">
                <a:solidFill>
                  <a:srgbClr val="333333"/>
                </a:solidFill>
              </a:defRPr>
            </a:pPr>
            <a:r>
              <a:rPr sz="1400"/>
              <a:t>• 变量间关系自然构成网络图结构，GNN 尤为适合</a:t>
            </a:r>
            <a:endParaRPr sz="1400"/>
          </a:p>
          <a:p>
            <a:pPr>
              <a:lnSpc>
                <a:spcPct val="140000"/>
              </a:lnSpc>
              <a:defRPr sz="1100">
                <a:solidFill>
                  <a:srgbClr val="333333"/>
                </a:solidFill>
              </a:defRPr>
            </a:pPr>
            <a:endParaRPr sz="1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" y="1793875"/>
            <a:ext cx="5135245" cy="2218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447040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 GNN 的时间序列插补</a:t>
            </a:r>
            <a:endParaRPr sz="2800">
              <a:sym typeface="+mn-ea"/>
            </a:endParaRPr>
          </a:p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817110" y="1478280"/>
            <a:ext cx="170751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4"/>
          <p:cNvSpPr/>
          <p:nvPr/>
        </p:nvSpPr>
        <p:spPr>
          <a:xfrm>
            <a:off x="22225" y="772160"/>
            <a:ext cx="112471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5"/>
          <p:cNvSpPr txBox="1"/>
          <p:nvPr/>
        </p:nvSpPr>
        <p:spPr>
          <a:xfrm>
            <a:off x="205105" y="863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传统方法局限</a:t>
            </a:r>
          </a:p>
        </p:txBody>
      </p:sp>
      <p:sp>
        <p:nvSpPr>
          <p:cNvPr id="21" name="TextBox 6"/>
          <p:cNvSpPr txBox="1"/>
          <p:nvPr/>
        </p:nvSpPr>
        <p:spPr>
          <a:xfrm>
            <a:off x="205105" y="1183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均值插补、样条插值、回归模型等方法难以捕获复杂的时间依赖性和非线性关系；深度学习方法虽有所改进，但未显式考虑变量间依赖关系。</a:t>
            </a:r>
          </a:p>
        </p:txBody>
      </p:sp>
      <p:sp>
        <p:nvSpPr>
          <p:cNvPr id="22" name="Rectangle 7"/>
          <p:cNvSpPr/>
          <p:nvPr/>
        </p:nvSpPr>
        <p:spPr>
          <a:xfrm>
            <a:off x="22225" y="1823720"/>
            <a:ext cx="11247120" cy="777240"/>
          </a:xfrm>
          <a:prstGeom prst="rect">
            <a:avLst/>
          </a:prstGeom>
          <a:solidFill>
            <a:srgbClr val="F0FFF5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8"/>
          <p:cNvSpPr txBox="1"/>
          <p:nvPr/>
        </p:nvSpPr>
        <p:spPr>
          <a:xfrm>
            <a:off x="205105" y="1915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GNN 优势</a:t>
            </a:r>
          </a:p>
        </p:txBody>
      </p:sp>
      <p:sp>
        <p:nvSpPr>
          <p:cNvPr id="24" name="TextBox 9"/>
          <p:cNvSpPr txBox="1"/>
          <p:nvPr/>
        </p:nvSpPr>
        <p:spPr>
          <a:xfrm>
            <a:off x="205105" y="2235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通过显式建模变量间的空间关联和时间动态，更好地捕获复杂的时空依赖性，为时间序列插补提供新的可能性。</a:t>
            </a:r>
          </a:p>
        </p:txBody>
      </p:sp>
      <p:sp>
        <p:nvSpPr>
          <p:cNvPr id="25" name="Rectangle 10"/>
          <p:cNvSpPr/>
          <p:nvPr/>
        </p:nvSpPr>
        <p:spPr>
          <a:xfrm>
            <a:off x="22225" y="3056255"/>
            <a:ext cx="5394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11"/>
          <p:cNvSpPr txBox="1"/>
          <p:nvPr/>
        </p:nvSpPr>
        <p:spPr>
          <a:xfrm>
            <a:off x="205105" y="3193415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5276"/>
                </a:solidFill>
              </a:defRPr>
            </a:pPr>
            <a:r>
              <a:t>按任务分类</a:t>
            </a:r>
          </a:p>
        </p:txBody>
      </p:sp>
      <p:sp>
        <p:nvSpPr>
          <p:cNvPr id="27" name="TextBox 12"/>
          <p:cNvSpPr txBox="1"/>
          <p:nvPr/>
        </p:nvSpPr>
        <p:spPr>
          <a:xfrm>
            <a:off x="205105" y="360489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样本内插补：填充给定时间序列数据中的缺失值</a:t>
            </a:r>
          </a:p>
        </p:txBody>
      </p:sp>
      <p:sp>
        <p:nvSpPr>
          <p:cNvPr id="28" name="TextBox 13"/>
          <p:cNvSpPr txBox="1"/>
          <p:nvPr/>
        </p:nvSpPr>
        <p:spPr>
          <a:xfrm>
            <a:off x="205105" y="38792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样本外插补：预测不相交序列中的缺失值</a:t>
            </a:r>
          </a:p>
        </p:txBody>
      </p:sp>
      <p:sp>
        <p:nvSpPr>
          <p:cNvPr id="29" name="Rectangle 14"/>
          <p:cNvSpPr/>
          <p:nvPr/>
        </p:nvSpPr>
        <p:spPr>
          <a:xfrm>
            <a:off x="22225" y="4563110"/>
            <a:ext cx="53949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15"/>
          <p:cNvSpPr txBox="1"/>
          <p:nvPr/>
        </p:nvSpPr>
        <p:spPr>
          <a:xfrm>
            <a:off x="205105" y="470027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</a:defRPr>
            </a:pPr>
            <a:r>
              <a:t>按方法分类</a:t>
            </a:r>
          </a:p>
        </p:txBody>
      </p:sp>
      <p:sp>
        <p:nvSpPr>
          <p:cNvPr id="32" name="TextBox 16"/>
          <p:cNvSpPr txBox="1"/>
          <p:nvPr/>
        </p:nvSpPr>
        <p:spPr>
          <a:xfrm>
            <a:off x="205105" y="511175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确定性方法：为缺失值提供单一最佳估计</a:t>
            </a:r>
          </a:p>
        </p:txBody>
      </p:sp>
      <p:sp>
        <p:nvSpPr>
          <p:cNvPr id="33" name="TextBox 17"/>
          <p:cNvSpPr txBox="1"/>
          <p:nvPr/>
        </p:nvSpPr>
        <p:spPr>
          <a:xfrm>
            <a:off x="205105" y="538607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概率性方法：提供可能值的分布以解释不确定性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715" y="2694940"/>
            <a:ext cx="428371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实际应用与未来</a:t>
            </a:r>
            <a:r>
              <a:rPr kumimoji="1" lang="zh-CN" altLang="en-US" sz="2800" b="1" i="0" kern="1200" cap="none" spc="0" normalizeH="0" baseline="0" noProof="0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方向</a:t>
            </a:r>
            <a:endParaRPr kumimoji="1" lang="zh-CN" altLang="en-US" sz="2800" b="1" i="0" kern="1200" cap="none" spc="0" normalizeH="0" baseline="0" noProof="0" dirty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133" name="TextBox 128"/>
          <p:cNvSpPr txBox="1"/>
          <p:nvPr/>
        </p:nvSpPr>
        <p:spPr>
          <a:xfrm>
            <a:off x="6359334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物联网</a:t>
            </a:r>
          </a:p>
        </p:txBody>
      </p:sp>
      <p:sp>
        <p:nvSpPr>
          <p:cNvPr id="162" name="TextBox 158"/>
          <p:cNvSpPr txBox="1"/>
          <p:nvPr/>
        </p:nvSpPr>
        <p:spPr>
          <a:xfrm>
            <a:off x="4216920" y="656791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32323C"/>
                </a:solidFill>
                <a:latin typeface="微软雅黑" panose="020B0503020204020204" charset="-122"/>
              </a:defRPr>
            </a:pPr>
            <a:r>
              <a:t>物理系统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9475"/>
            <a:ext cx="6265545" cy="5334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94705" y="815975"/>
            <a:ext cx="6301740" cy="5499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方向和挑战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预训练、迁移学习和大型模型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挑战大规模预训练的有限时间序列数据、确保广泛的覆盖范围和可转移性,以及设计捕获复杂时空依赖性的策略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鲁棒性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处理数据扰动和分布变化的能力，</a:t>
            </a:r>
            <a:r>
              <a:rPr lang="zh-CN" altLang="en-US" sz="1200">
                <a:sym typeface="+mn-ea"/>
              </a:rPr>
              <a:t>让模型在复杂、有噪声的现实环境中依然可靠。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增强隐私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GNN 的可解释性虽然对于识别漏洞很有用,但也可能暴露敏感信息，</a:t>
            </a:r>
            <a:r>
              <a:rPr lang="zh-CN" altLang="en-US" sz="1200">
                <a:sym typeface="+mn-ea"/>
              </a:rPr>
              <a:t>解决数据安全和合规问题，是落地的红线。</a:t>
            </a:r>
            <a:endParaRPr lang="zh-CN" altLang="en-US" sz="1200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Light" panose="020B0300000000000000" pitchFamily="34" charset="-12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可拓展性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20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pitchFamily="34" charset="-122"/>
                <a:sym typeface="+mn-ea"/>
              </a:rPr>
              <a:t>传统的GNN使用节点式 , 层式 , 和图式等采样策略来缓解大量时间相关数据的适应性问题,但保留时间依赖性仍旧很复杂。</a:t>
            </a:r>
            <a:r>
              <a:rPr lang="zh-CN" altLang="en-US" sz="1200">
                <a:sym typeface="+mn-ea"/>
              </a:rPr>
              <a:t>让模型能处理海量、动态的实时数据，是规模化的工程保障。</a:t>
            </a:r>
            <a:endParaRPr lang="zh-CN" altLang="en-US" sz="1200"/>
          </a:p>
          <a:p>
            <a:pPr marL="1200150" lvl="2" indent="-285750">
              <a:lnSpc>
                <a:spcPct val="220000"/>
              </a:lnSpc>
              <a:buFont typeface="Wingdings" panose="05000000000000000000" charset="0"/>
              <a:buChar char="Ø"/>
            </a:pPr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545" y="581892"/>
            <a:ext cx="11170227" cy="5777345"/>
          </a:xfrm>
          <a:prstGeom prst="rect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75" name="直线连接符 4"/>
          <p:cNvCxnSpPr/>
          <p:nvPr/>
        </p:nvCxnSpPr>
        <p:spPr>
          <a:xfrm>
            <a:off x="4571160" y="4189051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207"/>
          <p:cNvCxnSpPr/>
          <p:nvPr/>
        </p:nvCxnSpPr>
        <p:spPr>
          <a:xfrm>
            <a:off x="4571160" y="4664180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12"/>
          <p:cNvCxnSpPr/>
          <p:nvPr/>
        </p:nvCxnSpPr>
        <p:spPr>
          <a:xfrm>
            <a:off x="3985111" y="2420939"/>
            <a:ext cx="0" cy="22701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89" y="2059601"/>
            <a:ext cx="2857500" cy="2857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99331" y="2064226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1097" y="2402942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谢谢大家</a:t>
            </a:r>
            <a:endParaRPr kumimoji="1" lang="en-US" altLang="zh-CN" sz="9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898544" y="887168"/>
            <a:ext cx="2279311" cy="673670"/>
          </a:xfrm>
          <a:prstGeom prst="rect">
            <a:avLst/>
          </a:prstGeom>
        </p:spPr>
      </p:pic>
      <p:sp>
        <p:nvSpPr>
          <p:cNvPr id="16" name="副标题 2"/>
          <p:cNvSpPr txBox="1"/>
          <p:nvPr/>
        </p:nvSpPr>
        <p:spPr>
          <a:xfrm>
            <a:off x="2452443" y="5858895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222*150"/>
  <p:tag name="TABLE_ENDDRAG_RECT" val="30*296*222*150"/>
</p:tagLst>
</file>

<file path=ppt/tags/tag2.xml><?xml version="1.0" encoding="utf-8"?>
<p:tagLst xmlns:p="http://schemas.openxmlformats.org/presentationml/2006/main">
  <p:tag name="TABLE_ENDDRAG_ORIGIN_RECT" val="316*116"/>
  <p:tag name="TABLE_ENDDRAG_RECT" val="226*285*316*116"/>
</p:tagLst>
</file>

<file path=ppt/tags/tag3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4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5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6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7.xml><?xml version="1.0" encoding="utf-8"?>
<p:tagLst xmlns:p="http://schemas.openxmlformats.org/presentationml/2006/main">
  <p:tag name="KSO_WM_DIAGRAM_VIRTUALLY_FRAME" val="{&quot;height&quot;:303.9,&quot;left&quot;:42.84996788024837,&quot;top&quot;:131.8,&quot;width&quot;:896.2000321197517}"/>
</p:tagLst>
</file>

<file path=ppt/tags/tag8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9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0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1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2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3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4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5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6.xml><?xml version="1.0" encoding="utf-8"?>
<p:tagLst xmlns:p="http://schemas.openxmlformats.org/presentationml/2006/main">
  <p:tag name="KSO_WM_DIAGRAM_VIRTUALLY_FRAME" val="{&quot;height&quot;:416.75,&quot;left&quot;:15.45,&quot;top&quot;:99.95,&quot;width&quot;:914}"/>
</p:tagLst>
</file>

<file path=ppt/tags/tag17.xml><?xml version="1.0" encoding="utf-8"?>
<p:tagLst xmlns:p="http://schemas.openxmlformats.org/presentationml/2006/main">
  <p:tag name="KSO_WM_DIAGRAM_VIRTUALLY_FRAME" val="{&quot;height&quot;:88.75,&quot;left&quot;:22.2,&quot;top&quot;:101,&quot;width&quot;:742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</Words>
  <Application>WPS 演示</Application>
  <PresentationFormat>宽屏</PresentationFormat>
  <Paragraphs>294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41" baseType="lpstr">
      <vt:lpstr>Arial</vt:lpstr>
      <vt:lpstr>宋体</vt:lpstr>
      <vt:lpstr>Wingdings</vt:lpstr>
      <vt:lpstr>Microsoft YaHei Regular</vt:lpstr>
      <vt:lpstr>微软雅黑</vt:lpstr>
      <vt:lpstr>方正小标宋简体</vt:lpstr>
      <vt:lpstr>思源宋体 CN Heavy</vt:lpstr>
      <vt:lpstr>思源黑体 CN Light</vt:lpstr>
      <vt:lpstr>Wingdings</vt:lpstr>
      <vt:lpstr>Cambria Math</vt:lpstr>
      <vt:lpstr>Segoe Print</vt:lpstr>
      <vt:lpstr>Arial Unicode MS</vt:lpstr>
      <vt:lpstr>等线 Light</vt:lpstr>
      <vt:lpstr>等线</vt:lpstr>
      <vt:lpstr>KSOFE22CBF3B</vt:lpstr>
      <vt:lpstr>Calibri</vt:lpstr>
      <vt:lpstr>黑体</vt:lpstr>
      <vt:lpstr>Microsoft YaHei Regular</vt:lpstr>
      <vt:lpstr>思源宋体 CN Heavy</vt:lpstr>
      <vt:lpstr>思源黑体 CN Light</vt:lpstr>
      <vt:lpstr>Oxford Regular</vt:lpstr>
      <vt:lpstr>兰米宋体</vt:lpstr>
      <vt:lpstr>方正宝黑体 简 Light</vt:lpstr>
      <vt:lpstr>思源黑体 CN Normal</vt:lpstr>
      <vt:lpstr>思源黑体 CN Bold</vt:lpstr>
      <vt:lpstr>-apple-system</vt:lpstr>
      <vt:lpstr>KSOF954951BB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郑烨</dc:creator>
  <cp:lastModifiedBy>旧人旧梦</cp:lastModifiedBy>
  <cp:revision>56</cp:revision>
  <dcterms:created xsi:type="dcterms:W3CDTF">2024-04-23T07:30:00Z</dcterms:created>
  <dcterms:modified xsi:type="dcterms:W3CDTF">2026-07-10T22:34:24Z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ECED5893E11645CFB4B79DD9C73001CA_13</vt:lpwstr>
  </property>
  <property fmtid="{D5CDD505-2E9C-101B-9397-08002B2CF9AE}" pid="3" name="KSOProductBuildVer">
    <vt:lpwstr>2052-12.1.0.26895</vt:lpwstr>
  </property>
</Properties>
</file>