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96" r:id="rId6"/>
    <p:sldId id="281" r:id="rId7"/>
    <p:sldId id="261" r:id="rId8"/>
    <p:sldId id="304" r:id="rId9"/>
    <p:sldId id="306" r:id="rId10"/>
    <p:sldId id="284" r:id="rId11"/>
    <p:sldId id="292" r:id="rId12"/>
    <p:sldId id="285" r:id="rId13"/>
    <p:sldId id="293" r:id="rId14"/>
    <p:sldId id="268" r:id="rId15"/>
    <p:sldId id="308" r:id="rId16"/>
    <p:sldId id="309" r:id="rId17"/>
    <p:sldId id="310" r:id="rId18"/>
    <p:sldId id="312" r:id="rId19"/>
    <p:sldId id="311" r:id="rId20"/>
    <p:sldId id="307" r:id="rId21"/>
    <p:sldId id="26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900" autoAdjust="0"/>
  </p:normalViewPr>
  <p:slideViewPr>
    <p:cSldViewPr snapToGrid="0">
      <p:cViewPr>
        <p:scale>
          <a:sx n="50" d="100"/>
          <a:sy n="50" d="100"/>
        </p:scale>
        <p:origin x="540" y="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78FDA-50DF-44B5-9FBA-F96BB1FB82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D29A7-0808-4104-8F67-C229520D70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image" Target="../media/image9.png"/><Relationship Id="rId4" Type="http://schemas.openxmlformats.org/officeDocument/2006/relationships/tags" Target="../tags/tag3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tags" Target="../tags/tag45.xml"/><Relationship Id="rId5" Type="http://schemas.openxmlformats.org/officeDocument/2006/relationships/image" Target="../media/image16.png"/><Relationship Id="rId4" Type="http://schemas.openxmlformats.org/officeDocument/2006/relationships/tags" Target="../tags/tag4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tags" Target="../tags/tag4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0" b="34927"/>
          <a:stretch>
            <a:fillRect/>
          </a:stretch>
        </p:blipFill>
        <p:spPr>
          <a:xfrm>
            <a:off x="-2" y="0"/>
            <a:ext cx="12192002" cy="505775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5500" y="-27758"/>
            <a:ext cx="12192000" cy="5013703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Regular"/>
              <a:ea typeface="微软雅黑" panose="020B0503020204020204" charset="-122"/>
              <a:cs typeface="+mn-cs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74" y="39345"/>
            <a:ext cx="3455246" cy="3455246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647700" y="3559175"/>
            <a:ext cx="10890885" cy="14179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4000" b="1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基于视觉语言大模型的零样本多标签学习方法研究</a:t>
            </a:r>
            <a:endParaRPr lang="zh-CN" altLang="en-US" sz="4000" b="1" i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3200" b="1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zh-CN" altLang="en-US" sz="3200" b="1" i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直线连接符 77"/>
          <p:cNvCxnSpPr/>
          <p:nvPr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190"/>
          <p:cNvSpPr/>
          <p:nvPr/>
        </p:nvSpPr>
        <p:spPr>
          <a:xfrm>
            <a:off x="4182432" y="5460729"/>
            <a:ext cx="3816132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kumimoji="1" lang="zh-CN" altLang="en-US" sz="28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张云华</a:t>
            </a:r>
            <a:endParaRPr kumimoji="1" lang="zh-CN" altLang="en-US" sz="28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192"/>
          <p:cNvSpPr/>
          <p:nvPr/>
        </p:nvSpPr>
        <p:spPr>
          <a:xfrm>
            <a:off x="4922287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1" name="圆角矩形 193"/>
          <p:cNvSpPr/>
          <p:nvPr/>
        </p:nvSpPr>
        <p:spPr>
          <a:xfrm>
            <a:off x="7853888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副标题 2"/>
          <p:cNvSpPr txBox="1"/>
          <p:nvPr/>
        </p:nvSpPr>
        <p:spPr>
          <a:xfrm>
            <a:off x="2452443" y="6400304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研究背景与意义</a:t>
            </a:r>
            <a:endParaRPr kumimoji="1" lang="en-US" altLang="zh-CN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1162050"/>
            <a:ext cx="5387975" cy="1920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200000"/>
              </a:lnSpc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网络图像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安全主要处理媒体存在违规内容涉及色情裸露、暴力血腥等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显性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主题。许多敏感内容采用的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表达方式模糊隐晦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，往往通过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暗示性构图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模糊边界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巧妙遮挡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等方式规避平台的直接管控，或是利用平台先验知识不足的弱点。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"/>
            </p:custDataLst>
          </p:nvPr>
        </p:nvSpPr>
        <p:spPr>
          <a:xfrm>
            <a:off x="103505" y="934720"/>
            <a:ext cx="2104390" cy="346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违规敏感</a:t>
            </a:r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内容泛滥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5"/>
            </p:custDataLst>
          </p:nvPr>
        </p:nvSpPr>
        <p:spPr>
          <a:xfrm>
            <a:off x="103505" y="3576320"/>
            <a:ext cx="1376045" cy="35179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文生图</a:t>
            </a:r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发展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5880" y="4257675"/>
            <a:ext cx="2194560" cy="101917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26695" y="4349115"/>
            <a:ext cx="16548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u="sng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使用门槛低</a:t>
            </a:r>
            <a:endParaRPr lang="zh-CN" altLang="en-US" sz="1600" b="1" u="sng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50915" y="1681480"/>
            <a:ext cx="2421255" cy="1045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人工审查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具有较高的准确性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存在明显的时间滞后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103505" y="4814570"/>
            <a:ext cx="929005" cy="3467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开放性</a:t>
            </a:r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26185" y="4808855"/>
            <a:ext cx="929005" cy="3467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易用性</a:t>
            </a:r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889885" y="4540885"/>
            <a:ext cx="1654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02</a:t>
            </a:r>
            <a:r>
              <a:rPr lang="zh-CN" altLang="en-US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 </a:t>
            </a:r>
            <a:endParaRPr lang="zh-CN" altLang="en-US" u="sng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508250" y="4257675"/>
            <a:ext cx="2904490" cy="101917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665095" y="4307205"/>
            <a:ext cx="12077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u="sng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生成效果</a:t>
            </a:r>
            <a:r>
              <a:rPr lang="zh-CN" altLang="en-US" sz="1600" b="1" u="sng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好</a:t>
            </a:r>
            <a:endParaRPr lang="zh-CN" altLang="en-US" sz="1600" b="1" u="sng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2553335" y="4803140"/>
            <a:ext cx="882650" cy="3524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真实性</a:t>
            </a:r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3482340" y="4814570"/>
            <a:ext cx="886460" cy="3524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多样性</a:t>
            </a:r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4415155" y="4814570"/>
            <a:ext cx="944245" cy="3524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可控性</a:t>
            </a:r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b="1" dirty="0">
              <a:solidFill>
                <a:srgbClr val="FF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5880" y="5337175"/>
            <a:ext cx="5393690" cy="953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9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        </a:t>
            </a:r>
            <a:r>
              <a:rPr lang="zh-CN" altLang="en-US" sz="14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针对性修改图像细节，巧妙规避显性违规特征，使合成的敏感内容更具</a:t>
            </a:r>
            <a:r>
              <a:rPr lang="zh-CN" altLang="en-US" sz="1400" b="1" dirty="0">
                <a:solidFill>
                  <a:srgbClr val="FF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欺骗性</a:t>
            </a:r>
            <a:r>
              <a:rPr lang="zh-CN" altLang="en-US" sz="14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，进而生成不当内容。</a:t>
            </a:r>
            <a:endParaRPr lang="zh-CN" altLang="en-US" sz="14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6475095" y="967105"/>
            <a:ext cx="1610995" cy="346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防护体系</a:t>
            </a:r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薄弱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050915" y="2872740"/>
            <a:ext cx="2841625" cy="4533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图像安全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分类器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依赖于大规模标注数据集，多聚焦于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显性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敏感内容，分类器倾向于学习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表层视觉特征</a:t>
            </a:r>
            <a:endParaRPr lang="zh-CN" alt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无法自然地整合上下文信息、先验知识，处理需深层语义理解的隐晦敏感内容时表现不佳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27110" y="1941830"/>
            <a:ext cx="2421255" cy="806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投入大量人力资源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承受较大的心理损耗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92540" y="3139440"/>
            <a:ext cx="3230880" cy="4384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针对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有限，预定义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敏感主题进行训练。对于新兴敏感主题或表达方式，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泛化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能力和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适应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性严重不足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面临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灾难性遗忘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的风险，进一步限制了图像安全分类器的可扩展性。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国内外研究</a:t>
            </a: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现状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813" y="176064"/>
            <a:ext cx="1599391" cy="351690"/>
          </a:xfrm>
          <a:prstGeom prst="rect">
            <a:avLst/>
          </a:prstGeom>
        </p:spPr>
      </p:pic>
      <p:sp>
        <p:nvSpPr>
          <p:cNvPr id="49" name="任意形状 16"/>
          <p:cNvSpPr/>
          <p:nvPr>
            <p:custDataLst>
              <p:tags r:id="rId4"/>
            </p:custDataLst>
          </p:nvPr>
        </p:nvSpPr>
        <p:spPr>
          <a:xfrm>
            <a:off x="233680" y="813435"/>
            <a:ext cx="3035935" cy="413385"/>
          </a:xfrm>
          <a:custGeom>
            <a:avLst/>
            <a:gdLst>
              <a:gd name="connsiteX0" fmla="*/ 2255650 w 2397818"/>
              <a:gd name="connsiteY0" fmla="*/ 0 h 807312"/>
              <a:gd name="connsiteX1" fmla="*/ 0 w 2397818"/>
              <a:gd name="connsiteY1" fmla="*/ 0 h 807312"/>
              <a:gd name="connsiteX2" fmla="*/ 0 w 2397818"/>
              <a:gd name="connsiteY2" fmla="*/ 807312 h 807312"/>
              <a:gd name="connsiteX3" fmla="*/ 2255650 w 2397818"/>
              <a:gd name="connsiteY3" fmla="*/ 807312 h 807312"/>
              <a:gd name="connsiteX4" fmla="*/ 2397818 w 2397818"/>
              <a:gd name="connsiteY4" fmla="*/ 403656 h 80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18" h="807312">
                <a:moveTo>
                  <a:pt x="2255650" y="0"/>
                </a:moveTo>
                <a:lnTo>
                  <a:pt x="0" y="0"/>
                </a:lnTo>
                <a:lnTo>
                  <a:pt x="0" y="807312"/>
                </a:lnTo>
                <a:lnTo>
                  <a:pt x="2255650" y="807312"/>
                </a:lnTo>
                <a:lnTo>
                  <a:pt x="2397818" y="403656"/>
                </a:lnTo>
                <a:close/>
              </a:path>
            </a:pathLst>
          </a:custGeom>
          <a:solidFill>
            <a:srgbClr val="0C245B"/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5"/>
            </p:custDataLst>
          </p:nvPr>
        </p:nvSpPr>
        <p:spPr>
          <a:xfrm>
            <a:off x="534394" y="879625"/>
            <a:ext cx="2262517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000" b="0">
                <a:solidFill>
                  <a:schemeClr val="accent1"/>
                </a:solidFill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r>
              <a:rPr lang="zh-CN" altLang="en-US" sz="1800" b="1" dirty="0">
                <a:solidFill>
                  <a:schemeClr val="bg1"/>
                </a:solidFill>
                <a:cs typeface="思源黑体 CN Bold" panose="020B0800000000000000" charset="-122"/>
              </a:rPr>
              <a:t>传统计算机视觉</a:t>
            </a:r>
            <a:endParaRPr lang="zh-CN" altLang="en-US" sz="1800" b="1" dirty="0">
              <a:solidFill>
                <a:schemeClr val="bg1"/>
              </a:solidFill>
              <a:cs typeface="思源黑体 CN Bold" panose="020B0800000000000000" charset="-122"/>
            </a:endParaRPr>
          </a:p>
        </p:txBody>
      </p:sp>
      <p:sp>
        <p:nvSpPr>
          <p:cNvPr id="100" name="任意形状 16"/>
          <p:cNvSpPr/>
          <p:nvPr>
            <p:custDataLst>
              <p:tags r:id="rId6"/>
            </p:custDataLst>
          </p:nvPr>
        </p:nvSpPr>
        <p:spPr>
          <a:xfrm>
            <a:off x="4105275" y="815340"/>
            <a:ext cx="3483610" cy="415290"/>
          </a:xfrm>
          <a:custGeom>
            <a:avLst/>
            <a:gdLst>
              <a:gd name="connsiteX0" fmla="*/ 2255650 w 2397818"/>
              <a:gd name="connsiteY0" fmla="*/ 0 h 807312"/>
              <a:gd name="connsiteX1" fmla="*/ 0 w 2397818"/>
              <a:gd name="connsiteY1" fmla="*/ 0 h 807312"/>
              <a:gd name="connsiteX2" fmla="*/ 0 w 2397818"/>
              <a:gd name="connsiteY2" fmla="*/ 807312 h 807312"/>
              <a:gd name="connsiteX3" fmla="*/ 2255650 w 2397818"/>
              <a:gd name="connsiteY3" fmla="*/ 807312 h 807312"/>
              <a:gd name="connsiteX4" fmla="*/ 2397818 w 2397818"/>
              <a:gd name="connsiteY4" fmla="*/ 403656 h 80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18" h="807312">
                <a:moveTo>
                  <a:pt x="2255650" y="0"/>
                </a:moveTo>
                <a:lnTo>
                  <a:pt x="0" y="0"/>
                </a:lnTo>
                <a:lnTo>
                  <a:pt x="0" y="807312"/>
                </a:lnTo>
                <a:lnTo>
                  <a:pt x="2255650" y="807312"/>
                </a:lnTo>
                <a:lnTo>
                  <a:pt x="2397818" y="403656"/>
                </a:lnTo>
                <a:close/>
              </a:path>
            </a:pathLst>
          </a:custGeom>
          <a:solidFill>
            <a:srgbClr val="0C245B"/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7"/>
            </p:custDataLst>
          </p:nvPr>
        </p:nvSpPr>
        <p:spPr>
          <a:xfrm>
            <a:off x="5259742" y="879253"/>
            <a:ext cx="2262517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000" b="0">
                <a:solidFill>
                  <a:schemeClr val="accent1"/>
                </a:solidFill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1800" b="1" dirty="0">
                <a:solidFill>
                  <a:schemeClr val="bg1"/>
                </a:solidFill>
                <a:cs typeface="思源黑体 CN Bold" panose="020B0800000000000000" charset="-122"/>
              </a:rPr>
              <a:t>深度学习</a:t>
            </a:r>
            <a:endParaRPr lang="zh-CN" altLang="en-US" sz="1800" b="1" dirty="0">
              <a:solidFill>
                <a:schemeClr val="bg1"/>
              </a:solidFill>
              <a:cs typeface="思源黑体 CN Bold" panose="020B0800000000000000" charset="-122"/>
            </a:endParaRPr>
          </a:p>
        </p:txBody>
      </p:sp>
      <p:sp>
        <p:nvSpPr>
          <p:cNvPr id="110" name="任意形状 16"/>
          <p:cNvSpPr/>
          <p:nvPr>
            <p:custDataLst>
              <p:tags r:id="rId8"/>
            </p:custDataLst>
          </p:nvPr>
        </p:nvSpPr>
        <p:spPr>
          <a:xfrm>
            <a:off x="8215630" y="823595"/>
            <a:ext cx="3352800" cy="419735"/>
          </a:xfrm>
          <a:custGeom>
            <a:avLst/>
            <a:gdLst>
              <a:gd name="connsiteX0" fmla="*/ 2255650 w 2397818"/>
              <a:gd name="connsiteY0" fmla="*/ 0 h 807312"/>
              <a:gd name="connsiteX1" fmla="*/ 0 w 2397818"/>
              <a:gd name="connsiteY1" fmla="*/ 0 h 807312"/>
              <a:gd name="connsiteX2" fmla="*/ 0 w 2397818"/>
              <a:gd name="connsiteY2" fmla="*/ 807312 h 807312"/>
              <a:gd name="connsiteX3" fmla="*/ 2255650 w 2397818"/>
              <a:gd name="connsiteY3" fmla="*/ 807312 h 807312"/>
              <a:gd name="connsiteX4" fmla="*/ 2397818 w 2397818"/>
              <a:gd name="connsiteY4" fmla="*/ 403656 h 80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18" h="807312">
                <a:moveTo>
                  <a:pt x="2255650" y="0"/>
                </a:moveTo>
                <a:lnTo>
                  <a:pt x="0" y="0"/>
                </a:lnTo>
                <a:lnTo>
                  <a:pt x="0" y="807312"/>
                </a:lnTo>
                <a:lnTo>
                  <a:pt x="2255650" y="807312"/>
                </a:lnTo>
                <a:lnTo>
                  <a:pt x="2397818" y="403656"/>
                </a:lnTo>
                <a:close/>
              </a:path>
            </a:pathLst>
          </a:custGeom>
          <a:solidFill>
            <a:srgbClr val="0C245B"/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11" name="文本框 110"/>
          <p:cNvSpPr txBox="1"/>
          <p:nvPr>
            <p:custDataLst>
              <p:tags r:id="rId9"/>
            </p:custDataLst>
          </p:nvPr>
        </p:nvSpPr>
        <p:spPr>
          <a:xfrm>
            <a:off x="8857615" y="910590"/>
            <a:ext cx="2541270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000" b="0">
                <a:solidFill>
                  <a:schemeClr val="accent1"/>
                </a:solidFill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1800" b="1" dirty="0">
                <a:solidFill>
                  <a:schemeClr val="bg1"/>
                </a:solidFill>
                <a:cs typeface="思源黑体 CN Bold" panose="020B0800000000000000" charset="-122"/>
              </a:rPr>
              <a:t>基于大规模预训练模型</a:t>
            </a:r>
            <a:endParaRPr lang="zh-CN" altLang="en-US" sz="1800" b="1" dirty="0">
              <a:solidFill>
                <a:schemeClr val="bg1"/>
              </a:solidFill>
              <a:cs typeface="思源黑体 CN Bold" panose="020B0800000000000000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33680" y="1312545"/>
            <a:ext cx="2900045" cy="379095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cs typeface="思源黑体 CN Light" panose="020B03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3680" y="1332230"/>
            <a:ext cx="18243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一</a:t>
            </a:r>
            <a:r>
              <a:rPr lang="en-US" altLang="zh-CN" sz="1400" b="1"/>
              <a:t>·</a:t>
            </a:r>
            <a:r>
              <a:rPr lang="zh-CN" altLang="en-US" sz="1400" b="1"/>
              <a:t>特征提取</a:t>
            </a:r>
            <a:endParaRPr lang="zh-CN" altLang="en-US" sz="1400" b="1"/>
          </a:p>
        </p:txBody>
      </p:sp>
      <p:sp>
        <p:nvSpPr>
          <p:cNvPr id="8" name="文本框 7"/>
          <p:cNvSpPr txBox="1"/>
          <p:nvPr/>
        </p:nvSpPr>
        <p:spPr>
          <a:xfrm>
            <a:off x="233680" y="1507490"/>
            <a:ext cx="2865120" cy="3486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</a:rPr>
              <a:t>基于规则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预定义特征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模板匹配敏感内容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</a:rPr>
              <a:t>基于纹理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局部二值模式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灰度共生矩阵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等技术提取图像的纹理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</a:rPr>
              <a:t>基于颜色分析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注重图像的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颜色分布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特征，采用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颜色直方图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等工具量化敏感内容的色调分布特征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90000"/>
              </a:lnSpc>
              <a:buFont typeface="Wingdings" panose="05000000000000000000" pitchFamily="2" charset="2"/>
              <a:buNone/>
            </a:pP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90000"/>
              </a:lnSpc>
              <a:buFont typeface="Wingdings" panose="05000000000000000000" pitchFamily="2" charset="2"/>
              <a:buNone/>
            </a:pP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90000"/>
              </a:lnSpc>
              <a:buFont typeface="Wingdings" panose="05000000000000000000" pitchFamily="2" charset="2"/>
              <a:buNone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特征向量输入支持向量机、随机森林等浅层分类器进行二分类决策。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6385" y="4149090"/>
            <a:ext cx="14503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二</a:t>
            </a:r>
            <a:r>
              <a:rPr lang="en-US" altLang="zh-CN" sz="1400" b="1">
                <a:sym typeface="+mn-ea"/>
              </a:rPr>
              <a:t>·</a:t>
            </a:r>
            <a:r>
              <a:rPr lang="zh-CN" altLang="en-US" sz="1400" b="1"/>
              <a:t>分类</a:t>
            </a:r>
            <a:r>
              <a:rPr lang="zh-CN" altLang="en-US" sz="1400" b="1"/>
              <a:t>决策</a:t>
            </a:r>
            <a:endParaRPr lang="zh-CN" altLang="en-US" sz="1400" b="1"/>
          </a:p>
        </p:txBody>
      </p:sp>
      <p:sp>
        <p:nvSpPr>
          <p:cNvPr id="12" name="矩形 11"/>
          <p:cNvSpPr/>
          <p:nvPr/>
        </p:nvSpPr>
        <p:spPr>
          <a:xfrm>
            <a:off x="233680" y="5317490"/>
            <a:ext cx="979170" cy="5689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计算效率高、可解释性</a:t>
            </a:r>
            <a:endParaRPr lang="zh-CN" altLang="en-US" sz="1000">
              <a:solidFill>
                <a:srgbClr val="FF0000"/>
              </a:solidFill>
              <a:cs typeface="思源黑体 CN Light" panose="020B03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38580" y="5154930"/>
            <a:ext cx="1795145" cy="110680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60000"/>
              </a:lnSpc>
            </a:pP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高度依赖领域专家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泛化能力不足</a:t>
            </a:r>
            <a:endParaRPr lang="zh-CN" altLang="en-US" sz="1000">
              <a:solidFill>
                <a:srgbClr val="FF0000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上下文理解能力不足</a:t>
            </a:r>
            <a:endParaRPr lang="zh-CN" altLang="en-US" sz="1000">
              <a:solidFill>
                <a:srgbClr val="FF0000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适应能力较弱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05275" y="1301750"/>
            <a:ext cx="3350895" cy="24612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cs typeface="思源黑体 CN Light" panose="020B03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15130" y="1314450"/>
            <a:ext cx="3136265" cy="779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en-US" altLang="zh-CN" sz="1400" b="1"/>
              <a:t>       </a:t>
            </a:r>
            <a:r>
              <a:rPr lang="zh-CN" altLang="en-US" sz="1400"/>
              <a:t>端到端训练机制自动学习从边缘、纹理到语义组合的层次化特征表示</a:t>
            </a:r>
            <a:endParaRPr lang="zh-CN" altLang="en-US" sz="1400"/>
          </a:p>
        </p:txBody>
      </p:sp>
      <p:sp>
        <p:nvSpPr>
          <p:cNvPr id="16" name="文本框 15"/>
          <p:cNvSpPr txBox="1"/>
          <p:nvPr/>
        </p:nvSpPr>
        <p:spPr>
          <a:xfrm>
            <a:off x="4127500" y="2178050"/>
            <a:ext cx="3328670" cy="1440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zh-CN" altLang="en-US" sz="1400"/>
              <a:t>卷积神经网络为基础</a:t>
            </a:r>
            <a:endParaRPr lang="zh-CN" altLang="en-US" sz="1400"/>
          </a:p>
          <a:p>
            <a:pPr>
              <a:lnSpc>
                <a:spcPct val="180000"/>
              </a:lnSpc>
            </a:pPr>
            <a:r>
              <a:rPr lang="en-US" altLang="zh-CN" sz="1400"/>
              <a:t>     </a:t>
            </a:r>
            <a:r>
              <a:rPr lang="zh-CN" altLang="en-US" sz="1200"/>
              <a:t>   提出了基于加权多示例学习的优化方法，通过引入</a:t>
            </a:r>
            <a:r>
              <a:rPr lang="zh-CN" altLang="en-US" sz="1200">
                <a:solidFill>
                  <a:srgbClr val="FF0000"/>
                </a:solidFill>
              </a:rPr>
              <a:t>自动化权重分配机制</a:t>
            </a:r>
            <a:r>
              <a:rPr lang="zh-CN" altLang="en-US" sz="1200"/>
              <a:t>，提高了模型对局部敏感区域的检测能力。</a:t>
            </a:r>
            <a:endParaRPr lang="zh-CN" altLang="en-US" sz="1200"/>
          </a:p>
        </p:txBody>
      </p:sp>
      <p:sp>
        <p:nvSpPr>
          <p:cNvPr id="17" name="矩形 16"/>
          <p:cNvSpPr/>
          <p:nvPr/>
        </p:nvSpPr>
        <p:spPr>
          <a:xfrm>
            <a:off x="5420995" y="4131310"/>
            <a:ext cx="2035810" cy="171259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10000"/>
              </a:lnSpc>
            </a:pP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高度依赖</a:t>
            </a: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大规模标注数据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黑盒特性，</a:t>
            </a: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缺乏可解释性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模型缺乏灵活适应不同文化背景和政策标准的能力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210000"/>
              </a:lnSpc>
            </a:pP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部署后调整成本较高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105910" y="4131310"/>
            <a:ext cx="1282700" cy="81597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复杂场景适应性与模型泛化能力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215630" y="1363345"/>
            <a:ext cx="3523615" cy="201358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cs typeface="思源黑体 CN Light" panose="020B03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025130" y="3935730"/>
            <a:ext cx="1528445" cy="187579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  <a:buClrTx/>
              <a:buSzTx/>
              <a:buNone/>
            </a:pP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结构化输出</a:t>
            </a: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和</a:t>
            </a: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灵活政策调整</a:t>
            </a: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提升了检测的可解释性和适应性，解决敏感图像检测的数据稀缺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686290" y="3552825"/>
            <a:ext cx="2320925" cy="33972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目前</a:t>
            </a:r>
            <a:r>
              <a:rPr lang="zh-CN" altLang="en-US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主流仍是基于开源分类器</a:t>
            </a:r>
            <a:endParaRPr lang="zh-CN" altLang="en-US" sz="12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686290" y="3935730"/>
            <a:ext cx="2096135" cy="233934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数据获取困境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250000"/>
              </a:lnSpc>
            </a:pP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缺乏隐晦、边缘或小众类别的数据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250000"/>
              </a:lnSpc>
            </a:pP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训练数据集</a:t>
            </a: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成本高昂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250000"/>
              </a:lnSpc>
            </a:pPr>
            <a:r>
              <a:rPr lang="en-US" altLang="zh-CN" sz="1000">
                <a:solidFill>
                  <a:schemeClr val="tx1"/>
                </a:solidFill>
                <a:cs typeface="思源黑体 CN Light" panose="020B0300000000000000" pitchFamily="34" charset="-122"/>
              </a:rPr>
              <a:t>ai</a:t>
            </a: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与真实数据显著</a:t>
            </a: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不同的特征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250000"/>
              </a:lnSpc>
            </a:pP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模型</a:t>
            </a: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可扩展性</a:t>
            </a: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受限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  <a:p>
            <a:pPr algn="ctr">
              <a:lnSpc>
                <a:spcPct val="250000"/>
              </a:lnSpc>
            </a:pPr>
            <a:r>
              <a:rPr lang="zh-CN" altLang="en-US" sz="1000">
                <a:solidFill>
                  <a:srgbClr val="FF0000"/>
                </a:solidFill>
                <a:cs typeface="思源黑体 CN Light" panose="020B0300000000000000" pitchFamily="34" charset="-122"/>
              </a:rPr>
              <a:t>管控力度</a:t>
            </a:r>
            <a:r>
              <a:rPr lang="zh-CN" altLang="en-US" sz="1000">
                <a:solidFill>
                  <a:schemeClr val="tx1"/>
                </a:solidFill>
                <a:cs typeface="思源黑体 CN Light" panose="020B0300000000000000" pitchFamily="34" charset="-122"/>
              </a:rPr>
              <a:t>程度不同</a:t>
            </a:r>
            <a:endParaRPr lang="zh-CN" altLang="en-US" sz="1000">
              <a:solidFill>
                <a:schemeClr val="tx1"/>
              </a:solidFill>
              <a:cs typeface="思源黑体 CN Light" panose="020B0300000000000000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44535" y="1462405"/>
            <a:ext cx="3394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强大的跨模态理解能力和零样本迁移能力</a:t>
            </a:r>
            <a:endParaRPr lang="zh-CN" altLang="en-US" sz="1400"/>
          </a:p>
        </p:txBody>
      </p:sp>
      <p:sp>
        <p:nvSpPr>
          <p:cNvPr id="34" name="文本框 33"/>
          <p:cNvSpPr txBox="1"/>
          <p:nvPr/>
        </p:nvSpPr>
        <p:spPr>
          <a:xfrm>
            <a:off x="8288655" y="1910080"/>
            <a:ext cx="3448685" cy="1395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>
                <a:solidFill>
                  <a:srgbClr val="FF0000"/>
                </a:solidFill>
              </a:rPr>
              <a:t>对比语言-图像预训练</a:t>
            </a:r>
            <a:endParaRPr lang="zh-CN" altLang="en-US" sz="1200" b="1">
              <a:solidFill>
                <a:srgbClr val="FF0000"/>
              </a:solidFill>
            </a:endParaRPr>
          </a:p>
          <a:p>
            <a:endParaRPr lang="zh-CN" altLang="en-US" sz="1200"/>
          </a:p>
          <a:p>
            <a:pPr>
              <a:lnSpc>
                <a:spcPct val="190000"/>
              </a:lnSpc>
            </a:pPr>
            <a:r>
              <a:rPr lang="en-US" altLang="zh-CN" sz="1200"/>
              <a:t>       </a:t>
            </a:r>
            <a:r>
              <a:rPr lang="zh-CN" altLang="en-US" sz="1200"/>
              <a:t>将视觉内容与语言、描述在共享的特征空间中进行匹配。不仅能识别具体的视觉特征，还能理解更抽象的语义层面信息。</a:t>
            </a:r>
            <a:endParaRPr lang="zh-CN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多模态大模型基础架构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" y="878840"/>
            <a:ext cx="5844540" cy="23844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9530" y="3307715"/>
            <a:ext cx="5947410" cy="7797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40000"/>
              </a:lnSpc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      Transformer </a:t>
            </a: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架构提供了模型的骨架，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CLIP </a:t>
            </a: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负责构建跨模态的语义理解能力，而扩散模型则赋予系统强大的生成能力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5"/>
            </p:custDataLst>
          </p:nvPr>
        </p:nvSpPr>
        <p:spPr>
          <a:xfrm>
            <a:off x="103505" y="4244340"/>
            <a:ext cx="4294505" cy="346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Transformer   </a:t>
            </a:r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革命性的序列处理模型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00" y="4754245"/>
            <a:ext cx="5761355" cy="151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    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引入</a:t>
            </a:r>
            <a:r>
              <a:rPr lang="zh-CN" altLang="en-US" sz="14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自注意力机制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和</a:t>
            </a:r>
            <a:r>
              <a:rPr lang="zh-CN" altLang="en-US" sz="1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并行化计算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等创新技术，有效解决了循环神经网络在处理长序列数据时面临的</a:t>
            </a:r>
            <a:r>
              <a:rPr lang="zh-CN" altLang="en-US" sz="1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梯度消失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、</a:t>
            </a:r>
            <a:r>
              <a:rPr lang="zh-CN" altLang="en-US" sz="1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计算效率低下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等关键问题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多层含自注意力机制、位置前馈网络、残差连接和层归一化等关键组件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件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6457315" y="985520"/>
            <a:ext cx="4738370" cy="346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CLIP </a:t>
            </a:r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基于自然语言监督的视觉表征学习模型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57315" y="1529715"/>
            <a:ext cx="5654040" cy="113665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70000"/>
              </a:lnSpc>
            </a:pPr>
            <a:r>
              <a:rPr lang="en-US" altLang="zh-CN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    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CLIP 利用大量存在的图像-文本对作为训练数据，解决视觉模型对</a:t>
            </a:r>
            <a:r>
              <a:rPr lang="zh-CN" altLang="en-US" sz="1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特定标签依赖性强、领域适应性差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等关键问题，展现出强大的零样本</a:t>
            </a:r>
            <a:r>
              <a:rPr lang="zh-CN" altLang="en-US" sz="1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迁移学习</a:t>
            </a:r>
            <a:r>
              <a:rPr lang="zh-CN" altLang="en-US" sz="140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能力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和</a:t>
            </a:r>
            <a:r>
              <a:rPr lang="zh-CN" altLang="en-US" sz="14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跨域泛化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性能。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7315" y="2732405"/>
            <a:ext cx="5565775" cy="8070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    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由图像编码器和一个文本编码器组成。两个编码器分别负责提取图像和文本的高维特征，并将这些特征映射到共享的多模态嵌入空间。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6457315" y="3492500"/>
            <a:ext cx="4738370" cy="346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扩散模型</a:t>
            </a:r>
            <a:r>
              <a:rPr lang="en-US" altLang="zh-CN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  </a:t>
            </a:r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基于马尔可夫链的生成模型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81420" y="3924300"/>
            <a:ext cx="5763895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通过逐步添加和去除噪声来学习数据分布。有出色的生成质量和灵活性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81420" y="4244657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核心思想基于前向扩散过程和反向扩散过程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94450" y="4498340"/>
            <a:ext cx="5716905" cy="169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前向扩散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过程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     逐步向数据添加高斯噪声，最终将数据完全退化为纯噪声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反向扩散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过程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     </a:t>
            </a: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从纯噪声逐步恢复原始数据分布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indent="0">
              <a:lnSpc>
                <a:spcPct val="210000"/>
              </a:lnSpc>
              <a:buFont typeface="Wingdings" panose="05000000000000000000" pitchFamily="2" charset="2"/>
              <a:buNone/>
            </a:pPr>
            <a:r>
              <a:rPr lang="en-US" altLang="zh-CN" sz="1400" b="1"/>
              <a:t>                  </a:t>
            </a:r>
            <a:r>
              <a:rPr lang="zh-CN" altLang="en-US" sz="1400" b="1"/>
              <a:t>无条件生成和条件生成</a:t>
            </a:r>
            <a:endParaRPr lang="zh-CN" altLang="en-US" sz="1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文生图大模型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779145"/>
            <a:ext cx="4942205" cy="7366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40000"/>
              </a:lnSpc>
            </a:pPr>
            <a:r>
              <a:rPr lang="en-US" altLang="zh-CN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    </a:t>
            </a:r>
            <a:r>
              <a:rPr lang="en-US" altLang="zh-CN" sz="1400"/>
              <a:t>早期模型主要基于生成对抗网络架构，生成图像的质量和文本语义一致性方面</a:t>
            </a:r>
            <a:r>
              <a:rPr lang="zh-CN" altLang="en-US" sz="1400"/>
              <a:t>有</a:t>
            </a:r>
            <a:r>
              <a:rPr lang="en-US" altLang="zh-CN" sz="1400"/>
              <a:t>明显局限</a:t>
            </a:r>
            <a:endParaRPr lang="en-US" altLang="zh-CN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705" y="1720215"/>
            <a:ext cx="49422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/>
              <a:t>DALL-E、Stable Diffusion </a:t>
            </a:r>
            <a:r>
              <a:rPr lang="zh-CN" altLang="en-US" sz="1400"/>
              <a:t>和 </a:t>
            </a:r>
            <a:r>
              <a:rPr lang="en-US" altLang="zh-CN" sz="1400"/>
              <a:t>Midjourney </a:t>
            </a:r>
            <a:r>
              <a:rPr lang="zh-CN" altLang="en-US" sz="1400"/>
              <a:t>为代表的文生图模型</a:t>
            </a:r>
            <a:endParaRPr lang="zh-CN" altLang="en-US" sz="1400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5736590" y="843915"/>
            <a:ext cx="425196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DALL-E  </a:t>
            </a:r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强大的概念组合能力和创造性理解为特点</a:t>
            </a:r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736590" y="3394710"/>
            <a:ext cx="425196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Midjourney  </a:t>
            </a:r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卓越的艺术表现和独特的美学风格</a:t>
            </a:r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5736590" y="4354195"/>
            <a:ext cx="425196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Stable Diffusion  </a:t>
            </a:r>
            <a:endParaRPr lang="en-US" altLang="zh-CN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36590" y="4932045"/>
            <a:ext cx="58515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潜在扩散模型架构，低维潜在空间而非像素空间进行扩散过程，降低了计算资源需求</a:t>
            </a:r>
            <a:endParaRPr lang="zh-CN" altLang="en-US" sz="1200"/>
          </a:p>
        </p:txBody>
      </p:sp>
      <p:sp>
        <p:nvSpPr>
          <p:cNvPr id="20" name="箭头: 五边形 14"/>
          <p:cNvSpPr/>
          <p:nvPr/>
        </p:nvSpPr>
        <p:spPr>
          <a:xfrm>
            <a:off x="2138045" y="3011805"/>
            <a:ext cx="268605" cy="44069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pitchFamily="34" charset="-122"/>
            </a:endParaRPr>
          </a:p>
        </p:txBody>
      </p:sp>
      <p:sp>
        <p:nvSpPr>
          <p:cNvPr id="21" name="箭头: 五边形 14"/>
          <p:cNvSpPr/>
          <p:nvPr/>
        </p:nvSpPr>
        <p:spPr>
          <a:xfrm>
            <a:off x="2138045" y="4396105"/>
            <a:ext cx="268605" cy="41719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92910" y="5902325"/>
            <a:ext cx="11582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图生文工作机制</a:t>
            </a:r>
            <a:endParaRPr lang="zh-CN" altLang="en-US" sz="1000"/>
          </a:p>
        </p:txBody>
      </p:sp>
      <p:sp>
        <p:nvSpPr>
          <p:cNvPr id="23" name="矩形 22"/>
          <p:cNvSpPr/>
          <p:nvPr/>
        </p:nvSpPr>
        <p:spPr>
          <a:xfrm>
            <a:off x="1219835" y="2573020"/>
            <a:ext cx="2203450" cy="3530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altLang="zh-CN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Transformer </a:t>
            </a: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提取深层语义特征</a:t>
            </a: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19835" y="3538220"/>
            <a:ext cx="2203450" cy="81597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altLang="zh-CN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CLIP  </a:t>
            </a: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文本特征映射到与视觉特征兼容的共享语义空间</a:t>
            </a: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19835" y="4854575"/>
            <a:ext cx="2203450" cy="81597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扩散模型的去噪生成符合描述的高质量图像</a:t>
            </a: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865495" y="5379720"/>
            <a:ext cx="733425" cy="30162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消费</a:t>
            </a: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级</a:t>
            </a: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856095" y="5379720"/>
            <a:ext cx="733425" cy="30162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开源</a:t>
            </a: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发展</a:t>
            </a: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736590" y="3956050"/>
            <a:ext cx="68256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独特地采用 Discord 机器人作为主要界面，的命令系统和参数调整机制，降低了技术门槛</a:t>
            </a:r>
            <a:endParaRPr lang="zh-CN" altLang="en-US" sz="1200"/>
          </a:p>
        </p:txBody>
      </p:sp>
      <p:sp>
        <p:nvSpPr>
          <p:cNvPr id="31" name="文本框 30"/>
          <p:cNvSpPr txBox="1"/>
          <p:nvPr/>
        </p:nvSpPr>
        <p:spPr>
          <a:xfrm>
            <a:off x="5621020" y="1270635"/>
            <a:ext cx="6570980" cy="2181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原始</a:t>
            </a:r>
            <a:r>
              <a:rPr lang="en-US" altLang="zh-CN" sz="12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DALL-E</a:t>
            </a:r>
            <a:endParaRPr lang="en-US" altLang="zh-CN" sz="12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     </a:t>
            </a:r>
            <a:r>
              <a:rPr lang="zh-CN" altLang="en-US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基于 </a:t>
            </a:r>
            <a:r>
              <a:rPr lang="en-US" altLang="zh-CN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Transformer </a:t>
            </a:r>
            <a:r>
              <a:rPr lang="zh-CN" altLang="en-US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架构，结合 </a:t>
            </a:r>
            <a:r>
              <a:rPr lang="en-US" altLang="zh-CN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CLIP </a:t>
            </a:r>
            <a:r>
              <a:rPr lang="zh-CN" altLang="en-US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模型的跨模态理解能力，首次实现通过文本描述生成多样化图像，图像压缩为符号序列，再通过自回归生成图像</a:t>
            </a:r>
            <a:endParaRPr lang="zh-CN" altLang="en-US" sz="12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DALL-E 2</a:t>
            </a:r>
            <a:endParaRPr lang="en-US" altLang="zh-CN" sz="12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采用扩散模型替代自回归生成机制，层级式生成和 </a:t>
            </a:r>
            <a:r>
              <a:rPr lang="en-US" altLang="zh-CN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CLIP </a:t>
            </a:r>
            <a:r>
              <a:rPr lang="zh-CN" altLang="en-US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引导，更精准的文本-图像对齐能力</a:t>
            </a:r>
            <a:endParaRPr lang="zh-CN" altLang="en-US" sz="14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DALL-E 3</a:t>
            </a:r>
            <a:endParaRPr lang="en-US" altLang="zh-CN" sz="12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2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  深度融合了 GPT-4 的文本理解能力，增强了对复杂指令的处理能力</a:t>
            </a:r>
            <a:endParaRPr lang="zh-CN" altLang="en-US" sz="12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视觉语言大模型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250" y="838835"/>
            <a:ext cx="415988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zh-CN" altLang="en-US" sz="1400"/>
              <a:t>同时处理和理解视觉信息与文本信息的多模态模型</a:t>
            </a:r>
            <a:endParaRPr lang="zh-CN" altLang="en-US" sz="1400"/>
          </a:p>
          <a:p>
            <a:pPr>
              <a:lnSpc>
                <a:spcPct val="140000"/>
              </a:lnSpc>
            </a:pPr>
            <a:r>
              <a:rPr lang="zh-CN" altLang="en-US" sz="1400"/>
              <a:t>典型的视觉语言大模型由三部分组成</a:t>
            </a:r>
            <a:endParaRPr lang="zh-CN" altLang="en-US" sz="1400"/>
          </a:p>
        </p:txBody>
      </p:sp>
      <p:sp>
        <p:nvSpPr>
          <p:cNvPr id="23" name="矩形 22"/>
          <p:cNvSpPr/>
          <p:nvPr/>
        </p:nvSpPr>
        <p:spPr>
          <a:xfrm>
            <a:off x="249555" y="1894840"/>
            <a:ext cx="1047750" cy="99187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70000"/>
              </a:lnSpc>
            </a:pPr>
            <a:r>
              <a:rPr lang="zh-CN" altLang="en-US" sz="1000" b="1" dirty="0">
                <a:solidFill>
                  <a:schemeClr val="accent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视觉编码器：</a:t>
            </a:r>
            <a:endParaRPr lang="zh-CN" altLang="en-US" sz="1000" b="1" dirty="0">
              <a:solidFill>
                <a:schemeClr val="accent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  <a:p>
            <a:pPr algn="ctr">
              <a:lnSpc>
                <a:spcPct val="17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提取图像的高维语义特征</a:t>
            </a: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54480" y="1894840"/>
            <a:ext cx="1047750" cy="99187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70000"/>
              </a:lnSpc>
            </a:pPr>
            <a:endParaRPr lang="zh-CN" altLang="en-US" sz="1000" b="1" dirty="0">
              <a:solidFill>
                <a:schemeClr val="accent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  <a:p>
            <a:pPr algn="ctr">
              <a:lnSpc>
                <a:spcPct val="170000"/>
              </a:lnSpc>
            </a:pPr>
            <a:r>
              <a:rPr lang="zh-CN" altLang="en-US" sz="1000" b="1" dirty="0">
                <a:solidFill>
                  <a:schemeClr val="accent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语言模型：</a:t>
            </a:r>
            <a:endParaRPr lang="zh-CN" altLang="en-US" sz="1000" b="1" dirty="0">
              <a:solidFill>
                <a:schemeClr val="accent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  <a:p>
            <a:pPr algn="ctr">
              <a:lnSpc>
                <a:spcPct val="14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处理文本序列的理解与生成</a:t>
            </a: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pPr algn="ctr">
              <a:lnSpc>
                <a:spcPct val="170000"/>
              </a:lnSpc>
            </a:pP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27020" y="1894840"/>
            <a:ext cx="1281430" cy="99187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70000"/>
              </a:lnSpc>
            </a:pPr>
            <a:endParaRPr lang="zh-CN" altLang="en-US" sz="1000" b="1" dirty="0">
              <a:solidFill>
                <a:schemeClr val="accent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  <a:p>
            <a:pPr algn="ctr">
              <a:lnSpc>
                <a:spcPct val="170000"/>
              </a:lnSpc>
            </a:pPr>
            <a:endParaRPr lang="zh-CN" altLang="en-US" sz="1000" b="1" dirty="0">
              <a:solidFill>
                <a:schemeClr val="accent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  <a:p>
            <a:pPr algn="ctr">
              <a:lnSpc>
                <a:spcPct val="170000"/>
              </a:lnSpc>
            </a:pPr>
            <a:r>
              <a:rPr lang="zh-CN" altLang="en-US" sz="1000" b="1" dirty="0">
                <a:solidFill>
                  <a:schemeClr val="accent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模态对齐：</a:t>
            </a:r>
            <a:endParaRPr lang="zh-CN" altLang="en-US" sz="1000" b="1" dirty="0">
              <a:solidFill>
                <a:schemeClr val="accent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  <a:p>
            <a:pPr algn="ctr">
              <a:lnSpc>
                <a:spcPct val="14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实现视觉特征与语言特征在共享语义空间中的有效融合</a:t>
            </a: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  <a:p>
            <a:pPr algn="ctr">
              <a:lnSpc>
                <a:spcPct val="140000"/>
              </a:lnSpc>
            </a:pP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  <a:p>
            <a:pPr algn="ctr">
              <a:lnSpc>
                <a:spcPct val="170000"/>
              </a:lnSpc>
            </a:pPr>
            <a:endParaRPr lang="zh-CN" altLang="en-US" sz="10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54940" y="3363595"/>
            <a:ext cx="88011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LLaVA</a:t>
            </a:r>
            <a:endParaRPr lang="en-US" altLang="zh-CN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4940" y="3863975"/>
            <a:ext cx="4300855" cy="2414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60000"/>
              </a:lnSpc>
            </a:pPr>
            <a:r>
              <a:rPr lang="en-US" altLang="zh-CN" sz="1200"/>
              <a:t>        </a:t>
            </a:r>
            <a:r>
              <a:rPr lang="zh-CN" altLang="en-US" sz="1200"/>
              <a:t>预训练的视觉编码器与大语言模型相结合的架构设计，利用投影层将视觉特征映射到语言空间，实现了高效的跨模态对齐</a:t>
            </a:r>
            <a:endParaRPr lang="zh-CN" altLang="en-US" sz="1200"/>
          </a:p>
          <a:p>
            <a:pPr>
              <a:lnSpc>
                <a:spcPct val="160000"/>
              </a:lnSpc>
            </a:pPr>
            <a:endParaRPr lang="zh-CN" altLang="en-US" sz="1200"/>
          </a:p>
          <a:p>
            <a:pPr>
              <a:lnSpc>
                <a:spcPct val="160000"/>
              </a:lnSpc>
            </a:pPr>
            <a:r>
              <a:rPr lang="zh-CN" altLang="en-US" sz="1200"/>
              <a:t>两阶段训练策略：</a:t>
            </a:r>
            <a:endParaRPr lang="zh-CN" altLang="en-US" sz="1200"/>
          </a:p>
          <a:p>
            <a:pPr>
              <a:lnSpc>
                <a:spcPct val="160000"/>
              </a:lnSpc>
            </a:pPr>
            <a:r>
              <a:rPr lang="en-US" altLang="zh-CN" sz="1200"/>
              <a:t>     </a:t>
            </a:r>
            <a:r>
              <a:rPr lang="zh-CN" altLang="en-US" sz="1200"/>
              <a:t>预训练，以学习跨模态表征</a:t>
            </a:r>
            <a:endParaRPr lang="zh-CN" altLang="en-US" sz="1200"/>
          </a:p>
          <a:p>
            <a:pPr>
              <a:lnSpc>
                <a:spcPct val="160000"/>
              </a:lnSpc>
            </a:pPr>
            <a:r>
              <a:rPr lang="en-US" altLang="zh-CN" sz="1200"/>
              <a:t>    </a:t>
            </a:r>
            <a:r>
              <a:rPr lang="zh-CN" altLang="en-US" sz="1200"/>
              <a:t>高质量多模态指令数据微调，提升对复杂视觉指令的执行能力</a:t>
            </a:r>
            <a:endParaRPr lang="zh-CN" altLang="en-US" sz="1200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6123305" y="879475"/>
            <a:ext cx="192341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Llama3.2-Vision</a:t>
            </a:r>
            <a:endParaRPr lang="en-US" altLang="zh-CN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23305" y="1369060"/>
            <a:ext cx="6117590" cy="11779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200000"/>
              </a:lnSpc>
              <a:buClrTx/>
              <a:buSzTx/>
              <a:buNone/>
            </a:pPr>
            <a:r>
              <a:rPr lang="zh-CN" altLang="en-US" sz="1400"/>
              <a:t>整合图像编码器与语言模型架构</a:t>
            </a:r>
            <a:endParaRPr lang="zh-CN" altLang="en-US" sz="1400"/>
          </a:p>
          <a:p>
            <a:pPr algn="l">
              <a:lnSpc>
                <a:spcPct val="200000"/>
              </a:lnSpc>
              <a:buClrTx/>
              <a:buSzTx/>
              <a:buNone/>
            </a:pPr>
            <a:r>
              <a:rPr lang="zh-CN" altLang="en-US" sz="1400"/>
              <a:t>增强了文本分析，首次引入了视觉处理，图像理解与文本生成协同</a:t>
            </a:r>
            <a:endParaRPr lang="zh-CN" altLang="en-US" sz="1400"/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6123305" y="2724785"/>
            <a:ext cx="110236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QwenVL</a:t>
            </a:r>
            <a:endParaRPr lang="en-US" altLang="zh-CN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23305" y="3373120"/>
            <a:ext cx="5975985" cy="7797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60000"/>
              </a:lnSpc>
            </a:pPr>
            <a:r>
              <a:rPr lang="zh-CN" altLang="en-US" sz="1400"/>
              <a:t>设计的视觉编码器和跨模态对齐层，实现了图像与文本的深度融合理解</a:t>
            </a:r>
            <a:endParaRPr lang="zh-CN" altLang="en-US" sz="1400"/>
          </a:p>
          <a:p>
            <a:pPr>
              <a:lnSpc>
                <a:spcPct val="160000"/>
              </a:lnSpc>
            </a:pPr>
            <a:r>
              <a:rPr lang="zh-CN" altLang="en-US" sz="1400"/>
              <a:t>特别注重中文视觉语言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问题建模</a:t>
            </a: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" y="1163320"/>
            <a:ext cx="5991225" cy="22656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36575" y="4163060"/>
            <a:ext cx="12909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攻击者目标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36270" y="4782185"/>
            <a:ext cx="3255010" cy="701040"/>
            <a:chOff x="1012408" y="4169605"/>
            <a:chExt cx="4263714" cy="1420057"/>
          </a:xfrm>
        </p:grpSpPr>
        <p:grpSp>
          <p:nvGrpSpPr>
            <p:cNvPr id="18" name="组合 17"/>
            <p:cNvGrpSpPr/>
            <p:nvPr/>
          </p:nvGrpSpPr>
          <p:grpSpPr>
            <a:xfrm>
              <a:off x="1012408" y="4169605"/>
              <a:ext cx="4263714" cy="624587"/>
              <a:chOff x="1012408" y="4169606"/>
              <a:chExt cx="3559592" cy="438150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012408" y="4169606"/>
                <a:ext cx="1683167" cy="43815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cs typeface="思源黑体 CN Normal" panose="020B0400000000000000" pitchFamily="34" charset="-122"/>
                  </a:rPr>
                  <a:t>歧视仇恨</a:t>
                </a:r>
                <a:endParaRPr lang="zh-CN" altLang="en-US" sz="2000" dirty="0">
                  <a:solidFill>
                    <a:schemeClr val="accent1"/>
                  </a:solidFill>
                  <a:cs typeface="思源黑体 CN Normal" panose="020B0400000000000000" pitchFamily="34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2888833" y="4169606"/>
                <a:ext cx="1683167" cy="43815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cs typeface="思源黑体 CN Normal" panose="020B0400000000000000" pitchFamily="34" charset="-122"/>
                  </a:rPr>
                  <a:t>政治敏感</a:t>
                </a:r>
                <a:endParaRPr lang="zh-CN" altLang="en-US" sz="2000" dirty="0">
                  <a:solidFill>
                    <a:schemeClr val="accent1"/>
                  </a:solidFill>
                  <a:cs typeface="思源黑体 CN Normal" panose="020B0400000000000000" pitchFamily="34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1012408" y="4965075"/>
              <a:ext cx="4263714" cy="624587"/>
              <a:chOff x="1012408" y="4169606"/>
              <a:chExt cx="3559592" cy="438150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1012408" y="4169606"/>
                <a:ext cx="1683167" cy="43815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cs typeface="思源黑体 CN Normal" panose="020B0400000000000000" pitchFamily="34" charset="-122"/>
                  </a:rPr>
                  <a:t>暴力血腥</a:t>
                </a:r>
                <a:endParaRPr lang="zh-CN" altLang="en-US" sz="2000" dirty="0">
                  <a:solidFill>
                    <a:schemeClr val="accent1"/>
                  </a:solidFill>
                  <a:cs typeface="思源黑体 CN Normal" panose="020B0400000000000000" pitchFamily="34" charset="-122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2888833" y="4169606"/>
                <a:ext cx="1683167" cy="43815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cs typeface="思源黑体 CN Normal" panose="020B0400000000000000" pitchFamily="34" charset="-122"/>
                  </a:rPr>
                  <a:t>色情裸露</a:t>
                </a:r>
                <a:endParaRPr lang="zh-CN" altLang="en-US" sz="2000" dirty="0">
                  <a:solidFill>
                    <a:schemeClr val="accent1"/>
                  </a:solidFill>
                  <a:cs typeface="思源黑体 CN Normal" panose="020B0400000000000000" pitchFamily="34" charset="-122"/>
                </a:endParaRPr>
              </a:p>
            </p:txBody>
          </p:sp>
        </p:grpSp>
      </p:grpSp>
      <p:sp>
        <p:nvSpPr>
          <p:cNvPr id="25" name="文本框 24"/>
          <p:cNvSpPr txBox="1"/>
          <p:nvPr/>
        </p:nvSpPr>
        <p:spPr>
          <a:xfrm>
            <a:off x="6772910" y="1394460"/>
            <a:ext cx="113284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设计目标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719570" y="1812925"/>
            <a:ext cx="5187950" cy="3670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准确性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检测应实现高召回率，防止敏感内容的流通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lvl="0" indent="-285750">
              <a:lnSpc>
                <a:spcPct val="190000"/>
              </a:lnSpc>
              <a:buFont typeface="Wingdings" panose="05000000000000000000" charset="0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可拓展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9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灵活调整审查策略，对威胁的实时响应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lvl="0" indent="-285750">
              <a:lnSpc>
                <a:spcPct val="190000"/>
              </a:lnSpc>
              <a:buFont typeface="Wingdings" panose="05000000000000000000" charset="0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实用性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9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保证准确率的前提下提升计算效率，约时间成本，降低资源消耗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1200150" lvl="2" indent="-285750">
              <a:lnSpc>
                <a:spcPct val="220000"/>
              </a:lnSpc>
              <a:buFont typeface="Wingdings" panose="05000000000000000000" charset="0"/>
              <a:buChar char="Ø"/>
            </a:pPr>
            <a:endParaRPr lang="zh-CN" altLang="en-US" sz="1600" dirty="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6540" y="69850"/>
            <a:ext cx="731139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敏感图像动态审核框架</a:t>
            </a: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879475"/>
            <a:ext cx="5058410" cy="12839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en-US" altLang="zh-CN" sz="1400"/>
              <a:t>       </a:t>
            </a:r>
            <a:r>
              <a:rPr lang="zh-CN" altLang="en-US" sz="1400"/>
              <a:t>传统图像内容检测主要依赖于</a:t>
            </a:r>
            <a:r>
              <a:rPr lang="zh-CN" altLang="en-US" sz="1400" b="1"/>
              <a:t>卷积神经网络</a:t>
            </a:r>
            <a:r>
              <a:rPr lang="zh-CN" altLang="en-US" sz="1400"/>
              <a:t>等深度学习，在标准数据集中有比较好的精度，但基于图像分类器的方法还是存在</a:t>
            </a:r>
            <a:r>
              <a:rPr lang="zh-CN" altLang="en-US" sz="1400">
                <a:solidFill>
                  <a:srgbClr val="FF0000"/>
                </a:solidFill>
              </a:rPr>
              <a:t>特征理解的局限</a:t>
            </a:r>
            <a:r>
              <a:rPr lang="zh-CN" altLang="en-US" sz="1400"/>
              <a:t>和</a:t>
            </a:r>
            <a:r>
              <a:rPr lang="zh-CN" altLang="en-US" sz="1400">
                <a:solidFill>
                  <a:srgbClr val="FF0000"/>
                </a:solidFill>
              </a:rPr>
              <a:t>知识更新的困境</a:t>
            </a:r>
            <a:endParaRPr lang="zh-CN" altLang="en-US" sz="140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" y="1871980"/>
            <a:ext cx="4849495" cy="2703830"/>
          </a:xfrm>
          <a:prstGeom prst="rect">
            <a:avLst/>
          </a:prstGeom>
        </p:spPr>
      </p:pic>
      <p:sp>
        <p:nvSpPr>
          <p:cNvPr id="19" name="矩形: 圆角 18"/>
          <p:cNvSpPr/>
          <p:nvPr>
            <p:custDataLst>
              <p:tags r:id="rId5"/>
            </p:custDataLst>
          </p:nvPr>
        </p:nvSpPr>
        <p:spPr>
          <a:xfrm>
            <a:off x="55880" y="5033010"/>
            <a:ext cx="2484755" cy="85217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cs typeface="思源黑体 CN Normal" panose="020B0400000000000000" pitchFamily="34" charset="-122"/>
              </a:rPr>
              <a:t>文本、词向量、图文向量三重空间协同映射</a:t>
            </a:r>
            <a:endParaRPr lang="zh-CN" altLang="en-US" sz="1600">
              <a:solidFill>
                <a:schemeClr val="tx1"/>
              </a:solidFill>
              <a:cs typeface="思源黑体 CN Normal" panose="020B0400000000000000" pitchFamily="34" charset="-122"/>
            </a:endParaRPr>
          </a:p>
        </p:txBody>
      </p:sp>
      <p:sp>
        <p:nvSpPr>
          <p:cNvPr id="8" name="矩形: 圆角 18"/>
          <p:cNvSpPr/>
          <p:nvPr>
            <p:custDataLst>
              <p:tags r:id="rId6"/>
            </p:custDataLst>
          </p:nvPr>
        </p:nvSpPr>
        <p:spPr>
          <a:xfrm>
            <a:off x="2631440" y="4975860"/>
            <a:ext cx="2322195" cy="909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cs typeface="思源黑体 CN Normal" panose="020B0400000000000000" pitchFamily="34" charset="-122"/>
              </a:rPr>
              <a:t>基于视觉语言大模型的交叉验证机制</a:t>
            </a:r>
            <a:endParaRPr lang="zh-CN" altLang="en-US" sz="1600">
              <a:solidFill>
                <a:schemeClr val="tx1"/>
              </a:solidFill>
              <a:cs typeface="思源黑体 CN Normal" panose="020B0400000000000000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5655945" y="920750"/>
            <a:ext cx="128143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主题敏感词表</a:t>
            </a:r>
            <a:endParaRPr lang="en-US" altLang="zh-CN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655945" y="1605280"/>
            <a:ext cx="1682115" cy="3530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获取初始词表</a:t>
            </a:r>
            <a:endParaRPr lang="zh-CN" altLang="en-US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97875" y="1605280"/>
            <a:ext cx="1682115" cy="3530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优化筛选</a:t>
            </a:r>
            <a:endParaRPr lang="zh-CN" altLang="en-US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20" name="箭头: 五边形 14"/>
          <p:cNvSpPr/>
          <p:nvPr/>
        </p:nvSpPr>
        <p:spPr>
          <a:xfrm>
            <a:off x="7447280" y="1548130"/>
            <a:ext cx="842010" cy="440690"/>
          </a:xfrm>
          <a:prstGeom prst="right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5655945" y="2279015"/>
            <a:ext cx="128143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    </a:t>
            </a:r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语义提取</a:t>
            </a:r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55945" y="2728595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1600"/>
              <a:t>        </a:t>
            </a:r>
            <a:r>
              <a:rPr lang="zh-CN" altLang="en-US" sz="1600"/>
              <a:t>利用视觉语言大模型,将非结构化的图像信息转化为机器可解析的细粒度语义单元</a:t>
            </a:r>
            <a:endParaRPr lang="zh-CN" altLang="en-US" sz="1600"/>
          </a:p>
        </p:txBody>
      </p:sp>
      <p:sp>
        <p:nvSpPr>
          <p:cNvPr id="14" name="文本框 13"/>
          <p:cNvSpPr txBox="1"/>
          <p:nvPr/>
        </p:nvSpPr>
        <p:spPr>
          <a:xfrm>
            <a:off x="4953635" y="3563620"/>
            <a:ext cx="7391400" cy="558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42950" lvl="1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600">
                <a:sym typeface="+mn-ea"/>
              </a:rPr>
              <a:t>三元组技术，从图像描述文本中捕获“主体-关系-客体”的完整语义</a:t>
            </a:r>
            <a:endParaRPr lang="zh-CN" altLang="en-US" sz="1600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55945" y="4328795"/>
            <a:ext cx="1682115" cy="3530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深度语义</a:t>
            </a:r>
            <a:r>
              <a:rPr lang="zh-CN" altLang="en-US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捕捉</a:t>
            </a:r>
            <a:endParaRPr lang="zh-CN" altLang="en-US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767320" y="4328795"/>
            <a:ext cx="1682115" cy="3530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先验知识匹配</a:t>
            </a:r>
            <a:endParaRPr lang="zh-CN" altLang="en-US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968865" y="4328795"/>
            <a:ext cx="1682115" cy="3530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可解释性增</a:t>
            </a:r>
            <a:r>
              <a:rPr lang="zh-CN" altLang="en-US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强</a:t>
            </a:r>
            <a:endParaRPr lang="zh-CN" altLang="en-US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655945" y="4888230"/>
            <a:ext cx="128143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    </a:t>
            </a:r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直接匹配</a:t>
            </a:r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7379970" y="4888230"/>
            <a:ext cx="128143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    </a:t>
            </a:r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多头扩充</a:t>
            </a:r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520815" y="5372100"/>
            <a:ext cx="32658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1600"/>
              <a:t>      </a:t>
            </a:r>
            <a:r>
              <a:rPr lang="zh-CN" altLang="en-US" sz="1600"/>
              <a:t>文本、词向量、图文向量三重空间的协同映射，增强泛化能力</a:t>
            </a:r>
            <a:endParaRPr lang="zh-CN" altLang="en-US" sz="1600"/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9968865" y="4888230"/>
            <a:ext cx="128143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    </a:t>
            </a:r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筛选去噪</a:t>
            </a:r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888220" y="5408930"/>
            <a:ext cx="230378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    </a:t>
            </a:r>
            <a:r>
              <a:rPr lang="zh-CN" altLang="en-US" sz="1600"/>
              <a:t>交叉验证机制验证候选敏感词是否存在图像中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5516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隐晦敏感图像数据集及其构建方法</a:t>
            </a: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770" y="930910"/>
            <a:ext cx="29641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现有内容安全机制的局限性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230" y="1808480"/>
            <a:ext cx="1276350" cy="99187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7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管控政策的模糊性限制了内容审核的边界定义</a:t>
            </a:r>
            <a:endParaRPr lang="zh-CN" altLang="en-US" sz="12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66850" y="1808480"/>
            <a:ext cx="1561465" cy="99187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7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现有检测能力与隐晦 内容的复杂性之间存在技术鸿沟</a:t>
            </a:r>
            <a:endParaRPr lang="zh-CN" altLang="en-US" sz="1200" b="1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25470" y="1808480"/>
            <a:ext cx="1147445" cy="99187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70000"/>
              </a:lnSpc>
            </a:pPr>
            <a:r>
              <a:rPr lang="zh-CN" altLang="en-US" sz="1200" b="1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标准化评估数据集的缺失</a:t>
            </a:r>
            <a:endParaRPr lang="zh-CN" altLang="en-US" sz="1200" b="1" dirty="0">
              <a:solidFill>
                <a:schemeClr val="accent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770" y="3282950"/>
            <a:ext cx="44037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数据集主题：歧视仇恨、政治敏感与暴力血腥</a:t>
            </a:r>
            <a:endParaRPr lang="zh-CN" altLang="en-US" sz="1600"/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54940" y="3893820"/>
            <a:ext cx="215646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歧视仇恨主题审查</a:t>
            </a:r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挑战</a:t>
            </a:r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2230" y="4347210"/>
            <a:ext cx="5457190" cy="1908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主要针对于纳粹，不容易引发争议，</a:t>
            </a: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有完整的符号系统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先验知识的需求，对于历史的</a:t>
            </a: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了解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90000"/>
              </a:lnSpc>
              <a:buFont typeface="Wingdings" panose="05000000000000000000" charset="0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内容形态的多义性，符号相似分</a:t>
            </a: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辨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90000"/>
              </a:lnSpc>
              <a:buFont typeface="Wingdings" panose="05000000000000000000" charset="0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视觉表现的变异性和隐蔽性，对于符号主题</a:t>
            </a: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变体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606415" y="866140"/>
            <a:ext cx="202946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政治敏感主题</a:t>
            </a:r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审查挑战</a:t>
            </a:r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79415" y="1381760"/>
            <a:ext cx="6711950" cy="1908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地域性</a:t>
            </a: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：</a:t>
            </a: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识别并理解不同地域的政治语境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时效性</a:t>
            </a: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：</a:t>
            </a: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处理短时间内催生大量相关的敏感内容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多模态融合</a:t>
            </a: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：</a:t>
            </a: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单独看似无害的图像,配合特定文字或发布时间,可能共同构成敏感内容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5606415" y="3488055"/>
            <a:ext cx="202946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暴力血腥主题</a:t>
            </a:r>
            <a:r>
              <a:rPr lang="zh-CN" altLang="en-US" sz="14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审查挑战</a:t>
            </a:r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sz="14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06415" y="4079875"/>
            <a:ext cx="6497955" cy="779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en-US" altLang="zh-CN" sz="1600"/>
              <a:t>        </a:t>
            </a:r>
            <a:r>
              <a:rPr lang="zh-CN" altLang="en-US" sz="1600"/>
              <a:t>对非显性暴力内容，如用隐喻、象征手法暗示暴力。以及非肢体暴力的识别,如霸凌、羞辱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3526155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CSID</a:t>
            </a:r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数据集构建流程</a:t>
            </a:r>
            <a:endParaRPr sz="2800">
              <a:sym typeface="+mn-ea"/>
            </a:endParaRPr>
          </a:p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817110" y="1478280"/>
            <a:ext cx="1707515" cy="662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" y="988060"/>
            <a:ext cx="5307965" cy="142811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4925" y="2498090"/>
            <a:ext cx="165417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现有研究数据集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870710" y="2498090"/>
            <a:ext cx="165417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数据标注方法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3792855" y="2498090"/>
            <a:ext cx="165417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多方案集成过滤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5860" y="3429000"/>
            <a:ext cx="3569970" cy="27146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365" y="3268345"/>
            <a:ext cx="4663440" cy="29692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658225" y="4831715"/>
            <a:ext cx="35134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政治敏感主题：网络模因</a:t>
            </a:r>
            <a:r>
              <a:rPr lang="en-US" altLang="zh-CN"/>
              <a:t>、 </a:t>
            </a:r>
            <a:r>
              <a:rPr lang="zh-CN" altLang="en-US"/>
              <a:t>艺术重构和对抗合成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8740" y="29438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歧视仇恨主题：符号标志、人物、建筑物和文化宣传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4885" y="818515"/>
            <a:ext cx="3567430" cy="301879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007100" y="1610995"/>
            <a:ext cx="2922905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/>
              <a:t>暴力血腥</a:t>
            </a:r>
            <a:r>
              <a:rPr lang="zh-CN" altLang="en-US"/>
              <a:t>主题：显性暴力、隐性暴力和情境暴力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5872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敏感图像动态审核系统的实现与评估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33" name="TextBox 128"/>
          <p:cNvSpPr txBox="1"/>
          <p:nvPr/>
        </p:nvSpPr>
        <p:spPr>
          <a:xfrm>
            <a:off x="6359334" y="656791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t>物联网</a:t>
            </a:r>
          </a:p>
        </p:txBody>
      </p:sp>
      <p:sp>
        <p:nvSpPr>
          <p:cNvPr id="162" name="TextBox 158"/>
          <p:cNvSpPr txBox="1"/>
          <p:nvPr/>
        </p:nvSpPr>
        <p:spPr>
          <a:xfrm>
            <a:off x="4216920" y="6567911"/>
            <a:ext cx="1554480" cy="252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rPr lang="en-US"/>
              <a:t>===</a:t>
            </a:r>
            <a:r>
              <a:t>物理系统</a:t>
            </a: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16840" y="972185"/>
            <a:ext cx="215646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视觉语言大模型选择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543685"/>
            <a:ext cx="510222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en-US" sz="1600"/>
              <a:t>满足多模态数据处理能力、开源可访问性以及良好的指令遵循性。本研究选择了</a:t>
            </a:r>
            <a:r>
              <a:rPr lang="en-US" altLang="zh-CN" sz="1600">
                <a:solidFill>
                  <a:schemeClr val="accent2"/>
                </a:solidFill>
              </a:rPr>
              <a:t>LLaVA、Llama3.2 Vision </a:t>
            </a:r>
            <a:r>
              <a:rPr lang="zh-CN" altLang="en-US" sz="1600">
                <a:solidFill>
                  <a:schemeClr val="accent2"/>
                </a:solidFill>
              </a:rPr>
              <a:t>和 </a:t>
            </a:r>
            <a:r>
              <a:rPr lang="en-US" altLang="zh-CN" sz="1600">
                <a:solidFill>
                  <a:schemeClr val="accent2"/>
                </a:solidFill>
              </a:rPr>
              <a:t>QwenVL</a:t>
            </a:r>
            <a:r>
              <a:rPr lang="en-US" altLang="zh-CN" sz="1600"/>
              <a:t> </a:t>
            </a:r>
            <a:r>
              <a:rPr lang="zh-CN" altLang="en-US" sz="1600"/>
              <a:t>三种视觉语言大模型作为实验基础</a:t>
            </a:r>
            <a:endParaRPr lang="zh-CN" altLang="en-US" sz="1600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16840" y="2950210"/>
            <a:ext cx="130619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数据集选择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840" y="3655060"/>
            <a:ext cx="3790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CSID </a:t>
            </a:r>
            <a:r>
              <a:rPr lang="zh-CN" altLang="en-US"/>
              <a:t>数据集＋</a:t>
            </a:r>
            <a:r>
              <a:rPr lang="en-US" altLang="zh-CN"/>
              <a:t>UnsafeBench </a:t>
            </a:r>
            <a:r>
              <a:rPr lang="zh-CN" altLang="en-US"/>
              <a:t>数据集</a:t>
            </a:r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480050" y="902335"/>
            <a:ext cx="106235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对比方法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154940" y="4177030"/>
            <a:ext cx="130619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评估</a:t>
            </a:r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标准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01590" y="1336040"/>
            <a:ext cx="7090410" cy="4972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基准组：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直接方式</a:t>
            </a: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让视觉语言大模型对输入图像进行判断；</a:t>
            </a:r>
            <a:endParaRPr lang="zh-CN" altLang="en-US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引入了</a:t>
            </a:r>
            <a:r>
              <a:rPr lang="zh-CN" altLang="en-US" sz="1400" b="1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思维链技术</a:t>
            </a: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，</a:t>
            </a:r>
            <a:r>
              <a:rPr lang="en-US" altLang="zh-CN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CoT</a:t>
            </a: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模型会先分析图像中的对象、场景和活动,然后考虑元素与敏感内容相关；</a:t>
            </a:r>
            <a:endParaRPr lang="zh-CN" altLang="en-US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思维树技术，</a:t>
            </a:r>
            <a:r>
              <a:rPr lang="en-US" altLang="zh-CN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ToT</a:t>
            </a: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是</a:t>
            </a:r>
            <a:r>
              <a:rPr lang="en-US" altLang="zh-CN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CoT</a:t>
            </a: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的扩展,探索</a:t>
            </a:r>
            <a:r>
              <a:rPr lang="zh-CN" altLang="en-US" sz="1400" b="1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多个可能的推理路径</a:t>
            </a: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,整体思考形成树状结构</a:t>
            </a:r>
            <a:endParaRPr lang="zh-CN" altLang="en-US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18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集成过滤组：</a:t>
            </a: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Claude 3、Llama Guard 3 Vision和网易易盾</a:t>
            </a:r>
            <a:endParaRPr lang="zh-CN" altLang="en-US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18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其他现有组：</a:t>
            </a: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NSFW_Detector，基于 </a:t>
            </a: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CLIP 图像编码器的图片分类模型</a:t>
            </a:r>
            <a:endParaRPr lang="zh-CN" altLang="en-US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Q16，二元图像分类器，道德方面检测</a:t>
            </a:r>
            <a:endParaRPr lang="zh-CN" altLang="en-US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18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MultiHeaded Safety Classifier，检测色情露骨、暴力、令人震惊、仇恨和政治类图像</a:t>
            </a:r>
            <a:endParaRPr lang="zh-CN" altLang="en-US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40" y="4731385"/>
            <a:ext cx="5363210" cy="1573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</a:pPr>
            <a:r>
              <a:rPr lang="zh-CN" altLang="en-US" sz="1600"/>
              <a:t>准确率：正确分类的样本在总样本中的占比</a:t>
            </a:r>
            <a:endParaRPr lang="zh-CN" altLang="en-US" sz="1600"/>
          </a:p>
          <a:p>
            <a:pPr>
              <a:lnSpc>
                <a:spcPct val="120000"/>
              </a:lnSpc>
            </a:pPr>
            <a:r>
              <a:rPr lang="zh-CN" altLang="en-US" sz="1600"/>
              <a:t>精确率：敏感内容判定的准确性</a:t>
            </a:r>
            <a:endParaRPr lang="zh-CN" altLang="en-US" sz="1600"/>
          </a:p>
          <a:p>
            <a:pPr>
              <a:lnSpc>
                <a:spcPct val="120000"/>
              </a:lnSpc>
            </a:pPr>
            <a:r>
              <a:rPr lang="zh-CN" altLang="en-US" sz="1600"/>
              <a:t>召回率：敏感内容的完整性</a:t>
            </a:r>
            <a:endParaRPr lang="zh-CN" altLang="en-US" sz="1600"/>
          </a:p>
          <a:p>
            <a:pPr>
              <a:lnSpc>
                <a:spcPct val="120000"/>
              </a:lnSpc>
            </a:pPr>
            <a:r>
              <a:rPr lang="en-US" altLang="zh-CN" sz="1600"/>
              <a:t>F1</a:t>
            </a:r>
            <a:r>
              <a:rPr lang="zh-CN" altLang="en-US" sz="1600"/>
              <a:t>分数：精确率和召回率的调和平均值,综合反映模型的整体性能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5872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敏感图像动态审核系统的实现与评估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33" name="TextBox 128"/>
          <p:cNvSpPr txBox="1"/>
          <p:nvPr/>
        </p:nvSpPr>
        <p:spPr>
          <a:xfrm>
            <a:off x="6359334" y="656791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t>物联网</a:t>
            </a:r>
          </a:p>
        </p:txBody>
      </p:sp>
      <p:sp>
        <p:nvSpPr>
          <p:cNvPr id="162" name="TextBox 158"/>
          <p:cNvSpPr txBox="1"/>
          <p:nvPr/>
        </p:nvSpPr>
        <p:spPr>
          <a:xfrm>
            <a:off x="4216920" y="6567911"/>
            <a:ext cx="1554480" cy="252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rPr lang="en-US"/>
              <a:t>===</a:t>
            </a:r>
            <a:r>
              <a:t>物理系统</a:t>
            </a: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16840" y="815340"/>
            <a:ext cx="107632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实验环境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54940" y="3137535"/>
            <a:ext cx="234251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歧视仇恨主题结果分析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840" y="1137920"/>
            <a:ext cx="5403215" cy="20237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80000"/>
              </a:lnSpc>
            </a:pPr>
            <a:r>
              <a:rPr lang="zh-CN" altLang="en-US" sz="1400"/>
              <a:t>硬件：两台本地高性能计算服务器，每台配备 8 块 </a:t>
            </a:r>
            <a:r>
              <a:rPr lang="en-US" altLang="zh-CN" sz="1400"/>
              <a:t>NVIDIA GeForce RTX  3090 </a:t>
            </a:r>
            <a:r>
              <a:rPr lang="zh-CN" altLang="en-US" sz="1400"/>
              <a:t>显卡</a:t>
            </a:r>
            <a:endParaRPr lang="zh-CN" altLang="en-US" sz="1400"/>
          </a:p>
          <a:p>
            <a:pPr>
              <a:lnSpc>
                <a:spcPct val="180000"/>
              </a:lnSpc>
            </a:pPr>
            <a:r>
              <a:rPr lang="zh-CN" altLang="en-US" sz="1400"/>
              <a:t>软件：配置 </a:t>
            </a:r>
            <a:r>
              <a:rPr lang="en-US" altLang="zh-CN" sz="1400"/>
              <a:t>Python 3.10 </a:t>
            </a:r>
            <a:r>
              <a:rPr lang="zh-CN" altLang="en-US" sz="1400"/>
              <a:t>开发环境，</a:t>
            </a:r>
            <a:r>
              <a:rPr lang="en-US" altLang="zh-CN" sz="1400"/>
              <a:t>PyTorch 2.1.2 </a:t>
            </a:r>
            <a:r>
              <a:rPr lang="zh-CN" altLang="en-US" sz="1400"/>
              <a:t>深度学习框架</a:t>
            </a:r>
            <a:endParaRPr lang="zh-CN" altLang="en-US" sz="1400"/>
          </a:p>
          <a:p>
            <a:pPr>
              <a:lnSpc>
                <a:spcPct val="180000"/>
              </a:lnSpc>
            </a:pPr>
            <a:r>
              <a:rPr lang="zh-CN" altLang="en-US" sz="1400"/>
              <a:t>主要参数：</a:t>
            </a:r>
            <a:r>
              <a:rPr lang="en-US" altLang="zh-CN" sz="1400"/>
              <a:t>Temperature </a:t>
            </a:r>
            <a:r>
              <a:rPr lang="zh-CN" altLang="en-US" sz="1400"/>
              <a:t>参数用于调节 模型输出的随机性，</a:t>
            </a:r>
            <a:r>
              <a:rPr lang="en-US" altLang="zh-CN" sz="1400"/>
              <a:t>Top-p </a:t>
            </a:r>
            <a:r>
              <a:rPr lang="zh-CN" altLang="en-US" sz="1400"/>
              <a:t>参数控制模型生成文本时的多样性</a:t>
            </a:r>
            <a:endParaRPr lang="zh-CN" altLang="en-US" sz="14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40" y="3464560"/>
            <a:ext cx="4955540" cy="27895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525" y="2490470"/>
            <a:ext cx="5094605" cy="278892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970" y="879475"/>
            <a:ext cx="5622925" cy="149796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920615" y="5315585"/>
            <a:ext cx="7271385" cy="897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</a:pPr>
            <a:r>
              <a:rPr lang="en-US" altLang="zh-CN" sz="1600"/>
              <a:t>        LLaVA-72B </a:t>
            </a:r>
            <a:r>
              <a:rPr lang="zh-CN" altLang="en-US" sz="1600"/>
              <a:t>配合本框架在歧视仇恨主题识别任务中表现最为出色。然而,从计算资源与实用性角度考虑,</a:t>
            </a:r>
            <a:r>
              <a:rPr lang="en-US" altLang="zh-CN" sz="1600"/>
              <a:t>QwenVL-7B </a:t>
            </a:r>
            <a:r>
              <a:rPr lang="zh-CN" altLang="en-US" sz="1600"/>
              <a:t>结合本框架能提供接近的性能,是一个更为经济高效的方案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8149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CSID</a:t>
            </a: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数据集</a:t>
            </a:r>
            <a:r>
              <a:rPr kumimoji="1" lang="zh-CN" altLang="en-US" sz="2800" b="1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33" name="TextBox 128"/>
          <p:cNvSpPr txBox="1"/>
          <p:nvPr/>
        </p:nvSpPr>
        <p:spPr>
          <a:xfrm>
            <a:off x="6359334" y="656791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t>物联网</a:t>
            </a:r>
          </a:p>
        </p:txBody>
      </p:sp>
      <p:sp>
        <p:nvSpPr>
          <p:cNvPr id="162" name="TextBox 158"/>
          <p:cNvSpPr txBox="1"/>
          <p:nvPr/>
        </p:nvSpPr>
        <p:spPr>
          <a:xfrm>
            <a:off x="4216920" y="6567911"/>
            <a:ext cx="1554480" cy="252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rPr lang="en-US"/>
              <a:t>===</a:t>
            </a:r>
            <a:r>
              <a:t>物理系统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5227955" y="879475"/>
            <a:ext cx="234251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暴力血腥主题结果分析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955" y="1269365"/>
            <a:ext cx="2840990" cy="196024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1595" y="879475"/>
            <a:ext cx="227711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政治敏感主题结果分析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85240"/>
            <a:ext cx="3754755" cy="19443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365" y="4526280"/>
            <a:ext cx="3629025" cy="17773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4860" y="4248785"/>
            <a:ext cx="3455035" cy="20212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940" y="3383915"/>
            <a:ext cx="3938905" cy="11042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1980" y="3229610"/>
            <a:ext cx="4812030" cy="101981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536305" y="1356360"/>
            <a:ext cx="34474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QwenVL-7B </a:t>
            </a:r>
            <a:r>
              <a:rPr lang="zh-CN" altLang="en-US"/>
              <a:t>配合本框架在暴力血腥主题识别任务中表现最为出色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051300" y="4885055"/>
            <a:ext cx="39160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QwenVL7B、Llama3.2-11B </a:t>
            </a:r>
            <a:r>
              <a:rPr lang="zh-CN" altLang="en-US"/>
              <a:t>和 </a:t>
            </a:r>
            <a:r>
              <a:rPr lang="en-US" altLang="zh-CN"/>
              <a:t>LLaVA-7B </a:t>
            </a:r>
            <a:r>
              <a:rPr lang="zh-CN" altLang="en-US"/>
              <a:t>结合本框架的性能与现有最优不相上下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43986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UnsafeBench </a:t>
            </a: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数据集实验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33" name="TextBox 128"/>
          <p:cNvSpPr txBox="1"/>
          <p:nvPr/>
        </p:nvSpPr>
        <p:spPr>
          <a:xfrm>
            <a:off x="6359334" y="656791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t>物联网</a:t>
            </a:r>
          </a:p>
        </p:txBody>
      </p:sp>
      <p:sp>
        <p:nvSpPr>
          <p:cNvPr id="162" name="TextBox 158"/>
          <p:cNvSpPr txBox="1"/>
          <p:nvPr/>
        </p:nvSpPr>
        <p:spPr>
          <a:xfrm>
            <a:off x="4216920" y="6567911"/>
            <a:ext cx="1554480" cy="252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rPr lang="en-US"/>
              <a:t>===</a:t>
            </a:r>
            <a:r>
              <a:t>物理系统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9636125" y="1052195"/>
            <a:ext cx="234251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暴力血腥主题结果分析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1595" y="879475"/>
            <a:ext cx="2277110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暴力血腥主题结果分析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5" y="1243330"/>
            <a:ext cx="4025265" cy="28028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4355" y="2359660"/>
            <a:ext cx="5242560" cy="3680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43986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UnsafeBench </a:t>
            </a: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数据集实验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33" name="TextBox 128"/>
          <p:cNvSpPr txBox="1"/>
          <p:nvPr/>
        </p:nvSpPr>
        <p:spPr>
          <a:xfrm>
            <a:off x="6359334" y="656791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t>物联网</a:t>
            </a:r>
          </a:p>
        </p:txBody>
      </p:sp>
      <p:sp>
        <p:nvSpPr>
          <p:cNvPr id="162" name="TextBox 158"/>
          <p:cNvSpPr txBox="1"/>
          <p:nvPr/>
        </p:nvSpPr>
        <p:spPr>
          <a:xfrm>
            <a:off x="4216920" y="6567911"/>
            <a:ext cx="1554480" cy="252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rPr lang="en-US"/>
              <a:t>===</a:t>
            </a:r>
            <a:r>
              <a:t>物理系统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7350760" y="1167130"/>
            <a:ext cx="234251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色情裸露主题结果分析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515" y="1731645"/>
            <a:ext cx="5151755" cy="292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实验分析</a:t>
            </a: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817110" y="1478280"/>
            <a:ext cx="1707515" cy="662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152640" y="3667125"/>
            <a:ext cx="125412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稳定性</a:t>
            </a:r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实验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2005" y="3958590"/>
            <a:ext cx="4925695" cy="22612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2640" y="774065"/>
            <a:ext cx="5010150" cy="28225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340" y="815340"/>
            <a:ext cx="6038215" cy="27419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60" y="3557270"/>
            <a:ext cx="3677920" cy="26993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2835" y="3618230"/>
            <a:ext cx="3429000" cy="265874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7152640" y="944245"/>
            <a:ext cx="102425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消融实验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0" y="792480"/>
            <a:ext cx="1024255" cy="36385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耗时实验</a:t>
            </a:r>
            <a:endParaRPr lang="zh-CN" altLang="en-US" sz="1600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总结和展望</a:t>
            </a: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817110" y="1478280"/>
            <a:ext cx="1707515" cy="662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10"/>
          <p:cNvSpPr/>
          <p:nvPr/>
        </p:nvSpPr>
        <p:spPr>
          <a:xfrm>
            <a:off x="6330315" y="879475"/>
            <a:ext cx="5741670" cy="5390515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14"/>
          <p:cNvSpPr/>
          <p:nvPr/>
        </p:nvSpPr>
        <p:spPr>
          <a:xfrm>
            <a:off x="84455" y="879475"/>
            <a:ext cx="6130290" cy="296418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zh-CN" altLang="en-US" sz="16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71895" y="879475"/>
            <a:ext cx="5800090" cy="5311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自建隐晦敏感图像数据集优化：</a:t>
            </a:r>
            <a:endParaRPr lang="zh-CN" altLang="en-US" sz="1600" b="1">
              <a:solidFill>
                <a:schemeClr val="accent2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当前 </a:t>
            </a:r>
            <a:r>
              <a:rPr lang="en-US" altLang="zh-CN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CSID </a:t>
            </a: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数据集仍存在结构性不平衡问题,未来将持续扩充该数据集,通过多渠道采集真实图像和多样生成技术获取合成样本,确保各类别样本的均衡分布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lvl="0" indent="-28575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zh-CN" altLang="en-US" sz="1600" b="1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敏感词表构建方法优化</a:t>
            </a:r>
            <a:endParaRPr lang="zh-CN" altLang="en-US" sz="1600" b="1">
              <a:solidFill>
                <a:schemeClr val="accent2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探索更高效的敏感词汇挖掘方法,减少对大模型的反复查询依赖，开发地域敏感性判别机制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accent2"/>
                </a:solidFill>
                <a:latin typeface="仿宋" panose="02010609060101010101" charset="-122"/>
                <a:ea typeface="仿宋" panose="02010609060101010101" charset="-122"/>
              </a:rPr>
              <a:t>词汇多义性处理：</a:t>
            </a:r>
            <a:endParaRPr lang="zh-CN" altLang="en-US" sz="1600" b="1">
              <a:solidFill>
                <a:schemeClr val="accent2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742950" lvl="1" indent="-28575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zh-CN" altLang="en-US" sz="160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开发上下文感知的语义消歧机制,通过深入分析 词汇在特定图像和语境中的具体用法,准确判断其实际含义</a:t>
            </a:r>
            <a:endParaRPr lang="zh-CN" altLang="en-US" sz="160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455" y="879475"/>
            <a:ext cx="6130290" cy="291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4455" y="936625"/>
            <a:ext cx="6130290" cy="2493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330000"/>
              </a:lnSpc>
              <a:buFont typeface="Wingdings" panose="05000000000000000000" pitchFamily="2" charset="2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提出了一种无需重新训练即可动态更新的敏感内容检测框架</a:t>
            </a:r>
            <a:r>
              <a:rPr lang="en-US" altLang="zh-CN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VLGuard</a:t>
            </a:r>
            <a:endParaRPr lang="en-US" altLang="zh-CN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330000"/>
              </a:lnSpc>
              <a:buFont typeface="Wingdings" panose="05000000000000000000" pitchFamily="2" charset="2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设计了针对隐晦敏感内容的检测机制</a:t>
            </a:r>
            <a:endParaRPr lang="zh-CN" altLang="en-US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330000"/>
              </a:lnSpc>
              <a:buFont typeface="Wingdings" panose="05000000000000000000" pitchFamily="2" charset="2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构建了聚焦隐晦敏感内容的图像数据集 </a:t>
            </a:r>
            <a:r>
              <a:rPr lang="en-US" altLang="zh-CN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CSID</a:t>
            </a:r>
            <a:endParaRPr lang="en-US" altLang="zh-CN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330000"/>
              </a:lnSpc>
              <a:buFont typeface="Wingdings" panose="05000000000000000000" pitchFamily="2" charset="2"/>
              <a:buChar char="Ø"/>
            </a:pP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实现了</a:t>
            </a:r>
            <a:r>
              <a:rPr lang="en-US" altLang="zh-CN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VLGuard </a:t>
            </a:r>
            <a:r>
              <a:rPr lang="zh-CN" altLang="en-US" sz="1400" b="1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</a:rPr>
              <a:t>结合多个视觉语言大模型的检测系统</a:t>
            </a:r>
            <a:endParaRPr lang="zh-CN" altLang="en-US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lvl="0" indent="-285750">
              <a:lnSpc>
                <a:spcPct val="220000"/>
              </a:lnSpc>
              <a:buFont typeface="Wingdings" panose="05000000000000000000" charset="0"/>
              <a:buChar char="Ø"/>
            </a:pPr>
            <a:endParaRPr lang="en-US" altLang="zh-CN" sz="1400" b="1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19545" y="581892"/>
            <a:ext cx="11170227" cy="5777345"/>
          </a:xfrm>
          <a:prstGeom prst="rect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Regular"/>
              <a:ea typeface="微软雅黑" panose="020B0503020204020204" charset="-122"/>
              <a:cs typeface="+mn-cs"/>
            </a:endParaRPr>
          </a:p>
        </p:txBody>
      </p:sp>
      <p:cxnSp>
        <p:nvCxnSpPr>
          <p:cNvPr id="75" name="直线连接符 4"/>
          <p:cNvCxnSpPr/>
          <p:nvPr/>
        </p:nvCxnSpPr>
        <p:spPr>
          <a:xfrm>
            <a:off x="4571160" y="4189051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207"/>
          <p:cNvCxnSpPr/>
          <p:nvPr/>
        </p:nvCxnSpPr>
        <p:spPr>
          <a:xfrm>
            <a:off x="4571160" y="4664180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12"/>
          <p:cNvCxnSpPr/>
          <p:nvPr/>
        </p:nvCxnSpPr>
        <p:spPr>
          <a:xfrm>
            <a:off x="3985111" y="2420939"/>
            <a:ext cx="0" cy="22701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图片 8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89" y="2059601"/>
            <a:ext cx="2857500" cy="28575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299331" y="2064226"/>
            <a:ext cx="50897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>
                        <a:alpha val="4300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THANKS</a:t>
            </a:r>
            <a:endParaRPr kumimoji="1" lang="zh-CN" altLang="en-US" sz="88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>
                      <a:alpha val="43000"/>
                    </a:prstClr>
                  </a:gs>
                  <a:gs pos="100000">
                    <a:prstClr val="white"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71097" y="2402942"/>
            <a:ext cx="5109091" cy="171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谢谢大家</a:t>
            </a:r>
            <a:endParaRPr kumimoji="1" lang="en-US" altLang="zh-CN" sz="9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/>
          <a:stretch>
            <a:fillRect/>
          </a:stretch>
        </p:blipFill>
        <p:spPr>
          <a:xfrm>
            <a:off x="898544" y="887168"/>
            <a:ext cx="2279311" cy="673670"/>
          </a:xfrm>
          <a:prstGeom prst="rect">
            <a:avLst/>
          </a:prstGeom>
        </p:spPr>
      </p:pic>
      <p:sp>
        <p:nvSpPr>
          <p:cNvPr id="16" name="副标题 2"/>
          <p:cNvSpPr txBox="1"/>
          <p:nvPr/>
        </p:nvSpPr>
        <p:spPr>
          <a:xfrm>
            <a:off x="2452443" y="5858895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2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5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6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7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8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9.xml><?xml version="1.0" encoding="utf-8"?>
<p:tagLst xmlns:p="http://schemas.openxmlformats.org/presentationml/2006/main">
  <p:tag name="KSO_WM_DIAGRAM_VIRTUALLY_FRAME" val="{&quot;height&quot;:65.54653543307086,&quot;left&quot;:-0.2025984251968566,&quot;top&quot;:60.6,&quot;width&quot;:958.9032283464576}"/>
</p:tagLst>
</file>

<file path=ppt/tags/tag10.xml><?xml version="1.0" encoding="utf-8"?>
<p:tagLst xmlns:p="http://schemas.openxmlformats.org/presentationml/2006/main">
  <p:tag name="KSO_WM_DIAGRAM_VIRTUALLY_FRAME" val="{&quot;height&quot;:65.54653543307086,&quot;left&quot;:-0.2025984251968566,&quot;top&quot;:60.6,&quot;width&quot;:958.9032283464576}"/>
</p:tagLst>
</file>

<file path=ppt/tags/tag11.xml><?xml version="1.0" encoding="utf-8"?>
<p:tagLst xmlns:p="http://schemas.openxmlformats.org/presentationml/2006/main">
  <p:tag name="KSO_WM_DIAGRAM_VIRTUALLY_FRAME" val="{&quot;height&quot;:65.54653543307086,&quot;left&quot;:-0.2025984251968566,&quot;top&quot;:60.6,&quot;width&quot;:958.9032283464576}"/>
</p:tagLst>
</file>

<file path=ppt/tags/tag12.xml><?xml version="1.0" encoding="utf-8"?>
<p:tagLst xmlns:p="http://schemas.openxmlformats.org/presentationml/2006/main">
  <p:tag name="KSO_WM_DIAGRAM_VIRTUALLY_FRAME" val="{&quot;height&quot;:65.54653543307086,&quot;left&quot;:-0.2025984251968566,&quot;top&quot;:60.6,&quot;width&quot;:958.9032283464576}"/>
</p:tagLst>
</file>

<file path=ppt/tags/tag13.xml><?xml version="1.0" encoding="utf-8"?>
<p:tagLst xmlns:p="http://schemas.openxmlformats.org/presentationml/2006/main">
  <p:tag name="KSO_WM_DIAGRAM_VIRTUALLY_FRAME" val="{&quot;height&quot;:65.54653543307086,&quot;left&quot;:-0.2025984251968566,&quot;top&quot;:60.6,&quot;width&quot;:958.9032283464576}"/>
</p:tagLst>
</file>

<file path=ppt/tags/tag14.xml><?xml version="1.0" encoding="utf-8"?>
<p:tagLst xmlns:p="http://schemas.openxmlformats.org/presentationml/2006/main">
  <p:tag name="KSO_WM_DIAGRAM_VIRTUALLY_FRAME" val="{&quot;height&quot;:65.54653543307086,&quot;left&quot;:-0.2025984251968566,&quot;top&quot;:60.6,&quot;width&quot;:958.9032283464576}"/>
</p:tagLst>
</file>

<file path=ppt/tags/tag15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16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17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18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19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20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21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22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23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24.xml><?xml version="1.0" encoding="utf-8"?>
<p:tagLst xmlns:p="http://schemas.openxmlformats.org/presentationml/2006/main">
  <p:tag name="KSO_WM_DIAGRAM_VIRTUALLY_FRAME" val="{&quot;height&quot;:39.959999999999994,&quot;left&quot;:166.8677165354331,&quot;top&quot;:400.33582677165356,&quot;width&quot;:626.2645669291338}"/>
</p:tagLst>
</file>

<file path=ppt/tags/tag25.xml><?xml version="1.0" encoding="utf-8"?>
<p:tagLst xmlns:p="http://schemas.openxmlformats.org/presentationml/2006/main">
  <p:tag name="KSO_WM_DIAGRAM_VIRTUALLY_FRAME" val="{&quot;height&quot;:39.959999999999994,&quot;left&quot;:166.8677165354331,&quot;top&quot;:400.33582677165356,&quot;width&quot;:626.2645669291338}"/>
</p:tagLst>
</file>

<file path=ppt/tags/tag26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27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28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29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0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1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2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3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4.xml><?xml version="1.0" encoding="utf-8"?>
<p:tagLst xmlns:p="http://schemas.openxmlformats.org/presentationml/2006/main">
  <p:tag name="KSO_WM_DIAGRAM_VIRTUALLY_FRAME" val="{&quot;height&quot;:88.75,&quot;left&quot;:22.2,&quot;top&quot;:101,&quot;width&quot;:742.25}"/>
</p:tagLst>
</file>

<file path=ppt/tags/tag35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6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7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8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39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0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1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2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3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4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5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6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7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8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9.xml><?xml version="1.0" encoding="utf-8"?>
<p:tagLst xmlns:p="http://schemas.openxmlformats.org/presentationml/2006/main">
  <p:tag name="KSO_WM_DIAGRAM_VIRTUALLY_FRAME" val="{&quot;height&quot;:88.75,&quot;left&quot;:22.2,&quot;top&quot;:101,&quot;width&quot;:742.25}"/>
</p:tagLst>
</file>

<file path=ppt/tags/tag50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51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52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53.xml><?xml version="1.0" encoding="utf-8"?>
<p:tagLst xmlns:p="http://schemas.openxmlformats.org/presentationml/2006/main">
  <p:tag name="KSO_WM_DIAGRAM_VIRTUALLY_FRAME" val="{&quot;height&quot;:88.75,&quot;left&quot;:22.2,&quot;top&quot;:101,&quot;width&quot;:742.2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4637</Words>
  <Application>WPS 演示</Application>
  <PresentationFormat>宽屏</PresentationFormat>
  <Paragraphs>450</Paragraphs>
  <Slides>18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1" baseType="lpstr">
      <vt:lpstr>Arial</vt:lpstr>
      <vt:lpstr>宋体</vt:lpstr>
      <vt:lpstr>Wingdings</vt:lpstr>
      <vt:lpstr>Microsoft YaHei Regular</vt:lpstr>
      <vt:lpstr>微软雅黑</vt:lpstr>
      <vt:lpstr>方正小标宋简体</vt:lpstr>
      <vt:lpstr>思源宋体 CN Heavy</vt:lpstr>
      <vt:lpstr>思源黑体 CN Light</vt:lpstr>
      <vt:lpstr>Wingdings</vt:lpstr>
      <vt:lpstr>思源黑体 CN Normal</vt:lpstr>
      <vt:lpstr>OPPOSans B</vt:lpstr>
      <vt:lpstr>思源黑体 CN Bold</vt:lpstr>
      <vt:lpstr>黑体</vt:lpstr>
      <vt:lpstr>仿宋</vt:lpstr>
      <vt:lpstr>Times New Roman</vt:lpstr>
      <vt:lpstr>Segoe Print</vt:lpstr>
      <vt:lpstr>Arial Unicode MS</vt:lpstr>
      <vt:lpstr>等线 Light</vt:lpstr>
      <vt:lpstr>等线</vt:lpstr>
      <vt:lpstr>KSOFE22CBF3B</vt:lpstr>
      <vt:lpstr>KSOFE22D339A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郑烨</dc:creator>
  <cp:lastModifiedBy>旧人旧梦</cp:lastModifiedBy>
  <cp:revision>61</cp:revision>
  <dcterms:created xsi:type="dcterms:W3CDTF">2024-04-23T07:30:00Z</dcterms:created>
  <dcterms:modified xsi:type="dcterms:W3CDTF">2026-07-13T02:30:43Z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F0469625AA1140D8A0C1BA737291E1D9_13</vt:lpwstr>
  </property>
  <property fmtid="{D5CDD505-2E9C-101B-9397-08002B2CF9AE}" pid="3" name="KSOProductBuildVer">
    <vt:lpwstr>2052-12.1.0.26895</vt:lpwstr>
  </property>
</Properties>
</file>